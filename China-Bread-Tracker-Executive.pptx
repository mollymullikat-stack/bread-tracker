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5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6F4E-5123-15FB-C5FE-0B0DE48EA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64E496-EDB2-164B-9FA6-7E8C812EF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340CF-C67D-A91C-6665-F7A724E92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3DAA3-546C-DAD1-B9FE-C5411E74A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D1642-4CA3-38CF-B84D-3F131A98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FCC3-BC58-211B-F0EB-99D2D8FF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B23CF-2401-3CAD-73F9-8B7E9066A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018048-2684-6406-6A5B-C8193EDF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C9454-2E24-622B-14EE-B0679247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C9732-0B49-62E0-456D-9987E841C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3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305E-00EE-18FB-D378-CE6E2A67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55C21F-DD4E-DF7B-3165-E6B9E5324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85BC8-E08F-BF84-2FC7-60FBA7F0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781EA-D370-55D9-6D66-FC5149E4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7274A-BB66-F50E-A042-7305A5139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5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6FB5A-50F7-0577-DB31-D54ABFD38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3FE4-0CEE-A066-F33E-A15617D721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334252-93B0-8A11-A7D6-962B30ABB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88F3E-2357-0735-51B0-1E96C04BC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82FB1-D5CB-C647-BB2E-6D356770B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8C071-F1F2-D3A1-0E15-4D09D1590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5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E39F8-B614-CDD4-4443-08154746A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AF2B4-157A-B659-5336-FFC96E56F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29D25-8D8A-C533-4581-153F5B51F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7BEAA9-ED0B-447C-C867-B9B2FF1B8C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53DC84-5B4C-D899-72A9-FBBAE83B7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E6D9B0-7B71-22E1-E957-AB96994DC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3EC826-3005-532B-FB07-69B8740F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7ABB8F-A156-4820-E39D-19B24D52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25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4F88-06CE-89F5-F1EA-D11FC1DB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30A04-CEA6-1127-C8D7-77EE80492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EA55F-BEC7-61E2-35DA-FB7761C3A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AAD31-4980-2EBD-A8B9-6196DD8C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1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E9A57-879E-FE94-8BE5-2C9E6784C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AB199-8D06-3212-DCC9-F51004FF0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E1257-330D-8837-E142-509E41E4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60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9CF8A-E1D9-44A5-9964-538CCC36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E8366-C7A6-5980-C799-FDDFD6ABA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05C2F-AB69-3B5E-4DBD-9E5EA10E7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FA3C53-18E3-B82B-0FBB-8734E7C0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4FB56-C21A-157A-E4BC-8061E61D8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E1ED2-913C-DC9C-5F72-21C11DA10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1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A9FF9-2596-6FC5-C14D-7278D112C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753AB-C34A-298E-D577-EEA52B7E9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9EBA8-B0E6-D317-4751-9C02862C5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DF5E5-C3BC-13C1-4C51-813C2272E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9423A-1E18-5397-A246-E5844C83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DB978-E891-B85B-C76F-12B83F2D8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89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62AA-46BF-1C40-4596-F56A6D109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9F0AC-6209-F836-C197-84BF6D999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9E8B0-355F-1914-BD41-E72C0B9F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1318B-D7E1-D31A-F79A-29F14CF4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6624-7705-9B27-959D-3521451C7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89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8CD5BF-CE73-F092-0CA0-B8A020715D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092034-475A-9DEE-E891-688CCBD598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3A75D1-CF85-B4FE-4CC7-8A8521D1E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4AA25-4B31-7229-F57A-47FA7512B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F50E8-52BE-9130-565A-7667CE163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17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59424-46F5-3D54-58C0-F010626E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6247F-5906-F632-E687-97ED1A6FF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42115-91E3-14EF-3896-739ACC402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24599-6254-41E4-8C0C-57BCC2B39F39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53C5-BAFC-763D-9D0F-8AE696F0F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02310-31A6-84F4-7766-3FE2D25CD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DA5FE-BFB4-4B2A-8524-03645C973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91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12D62F2-AF99-FF1D-A90B-1DA0F45A98F2}"/>
              </a:ext>
            </a:extLst>
          </p:cNvPr>
          <p:cNvSpPr/>
          <p:nvPr/>
        </p:nvSpPr>
        <p:spPr>
          <a:xfrm>
            <a:off x="8763000" y="762000"/>
            <a:ext cx="2921000" cy="2921000"/>
          </a:xfrm>
          <a:prstGeom prst="ellipse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5A0E16C-C170-3439-9019-D65D4D98688E}"/>
              </a:ext>
            </a:extLst>
          </p:cNvPr>
          <p:cNvSpPr/>
          <p:nvPr/>
        </p:nvSpPr>
        <p:spPr>
          <a:xfrm>
            <a:off x="8001000" y="3810000"/>
            <a:ext cx="1651000" cy="1651000"/>
          </a:xfrm>
          <a:prstGeom prst="ellipse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B4ED21-73F3-1ED7-1EBE-12B0725161A9}"/>
              </a:ext>
            </a:extLst>
          </p:cNvPr>
          <p:cNvSpPr/>
          <p:nvPr/>
        </p:nvSpPr>
        <p:spPr>
          <a:xfrm>
            <a:off x="10160000" y="4191000"/>
            <a:ext cx="1206500" cy="1206500"/>
          </a:xfrm>
          <a:prstGeom prst="ellipse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57BF31-00FF-E64B-3BDB-28AA71F82AB2}"/>
              </a:ext>
            </a:extLst>
          </p:cNvPr>
          <p:cNvSpPr txBox="1"/>
          <p:nvPr/>
        </p:nvSpPr>
        <p:spPr>
          <a:xfrm>
            <a:off x="762000" y="15240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200">
                <a:solidFill>
                  <a:srgbClr val="FFFAF2"/>
                </a:solidFill>
                <a:latin typeface="Leelawadee UI" panose="020B0502040204020203" pitchFamily="34" charset="-34"/>
              </a:rPr>
              <a:t>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175D89-90C9-E5BD-9743-EE104498B0EE}"/>
              </a:ext>
            </a:extLst>
          </p:cNvPr>
          <p:cNvSpPr txBox="1"/>
          <p:nvPr/>
        </p:nvSpPr>
        <p:spPr>
          <a:xfrm>
            <a:off x="762000" y="2870200"/>
            <a:ext cx="711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400" b="1">
                <a:solidFill>
                  <a:srgbClr val="FFFAF2"/>
                </a:solidFill>
                <a:latin typeface="Leelawadee UI" panose="020B0502040204020203" pitchFamily="34" charset="-34"/>
              </a:rPr>
              <a:t>China Bread Tracker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75CF6-E4FA-EA5F-73A9-ECBAB0AF6D03}"/>
              </a:ext>
            </a:extLst>
          </p:cNvPr>
          <p:cNvSpPr txBox="1"/>
          <p:nvPr/>
        </p:nvSpPr>
        <p:spPr>
          <a:xfrm>
            <a:off x="762000" y="37084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000" b="1">
                <a:solidFill>
                  <a:srgbClr val="E0A13C"/>
                </a:solidFill>
                <a:latin typeface="Leelawadee UI" panose="020B0502040204020203" pitchFamily="34" charset="-34"/>
              </a:rPr>
              <a:t>สรุปผู้บริหาร · ขนมปังที่นักท่องเที่ยวจีนชื่นชอบในประเทศไทย</a:t>
            </a:r>
            <a:endParaRPr lang="en-US" sz="2000" b="1">
              <a:solidFill>
                <a:srgbClr val="E0A13C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B12C93-E8DF-3B75-BBBB-8B67AEFDBD62}"/>
              </a:ext>
            </a:extLst>
          </p:cNvPr>
          <p:cNvSpPr txBox="1"/>
          <p:nvPr/>
        </p:nvSpPr>
        <p:spPr>
          <a:xfrm>
            <a:off x="762000" y="4267200"/>
            <a:ext cx="7874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400">
                <a:solidFill>
                  <a:srgbClr val="D8CBB8"/>
                </a:solidFill>
                <a:latin typeface="Leelawadee UI" panose="020B0502040204020203" pitchFamily="34" charset="-34"/>
              </a:rPr>
              <a:t>ข้อมูลจริง ม.ค.–มิ.ย. 2026 + คาดการณ์ ก.ค.–ธ.ค. 2026</a:t>
            </a:r>
            <a:endParaRPr lang="en-US" sz="1400">
              <a:solidFill>
                <a:srgbClr val="D8CBB8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16E048-6889-BE98-113C-C07E4D61D777}"/>
              </a:ext>
            </a:extLst>
          </p:cNvPr>
          <p:cNvSpPr txBox="1"/>
          <p:nvPr/>
        </p:nvSpPr>
        <p:spPr>
          <a:xfrm>
            <a:off x="762000" y="6045200"/>
            <a:ext cx="787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แดชบอร์ดสด: mollymullikat-stack.github.io/bread-tracker · mention จริงจาก Apify อัปเดตอัตโนมัติรายสัปดาห์ · 2 ก.ค. 2026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58561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FC10C1-EDD5-24A0-565F-4127865FDF73}"/>
              </a:ext>
            </a:extLst>
          </p:cNvPr>
          <p:cNvSpPr txBox="1"/>
          <p:nvPr/>
        </p:nvSpPr>
        <p:spPr>
          <a:xfrm>
            <a:off x="508000" y="3810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3000" b="1">
                <a:solidFill>
                  <a:srgbClr val="4A3B2C"/>
                </a:solidFill>
                <a:latin typeface="Leelawadee UI" panose="020B0502040204020203" pitchFamily="34" charset="-34"/>
              </a:rPr>
              <a:t>ภาพรวมตลาดนักท่องเที่ยวจีน 2026</a:t>
            </a:r>
            <a:endParaRPr lang="en-US" sz="30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CBA2427-33C5-77F0-9B2C-A9756C79A1E4}"/>
              </a:ext>
            </a:extLst>
          </p:cNvPr>
          <p:cNvSpPr/>
          <p:nvPr/>
        </p:nvSpPr>
        <p:spPr>
          <a:xfrm>
            <a:off x="10160000" y="508000"/>
            <a:ext cx="1524000" cy="304800"/>
          </a:xfrm>
          <a:prstGeom prst="roundRect">
            <a:avLst/>
          </a:prstGeom>
          <a:solidFill>
            <a:srgbClr val="E3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E327E-630A-ED36-52D6-6645E76474D6}"/>
              </a:ext>
            </a:extLst>
          </p:cNvPr>
          <p:cNvSpPr txBox="1"/>
          <p:nvPr/>
        </p:nvSpPr>
        <p:spPr>
          <a:xfrm>
            <a:off x="10160000" y="5461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4F7A3A"/>
                </a:solidFill>
                <a:latin typeface="Leelawadee UI" panose="020B0502040204020203" pitchFamily="34" charset="-34"/>
              </a:rPr>
              <a:t>🟢 </a:t>
            </a:r>
            <a:r>
              <a:rPr lang="th-TH" sz="1100" b="1">
                <a:solidFill>
                  <a:srgbClr val="4F7A3A"/>
                </a:solidFill>
                <a:latin typeface="Leelawadee UI" panose="020B0502040204020203" pitchFamily="34" charset="-34"/>
              </a:rPr>
              <a:t>อ้างอิงได้</a:t>
            </a:r>
            <a:endParaRPr lang="en-US" sz="1100" b="1">
              <a:solidFill>
                <a:srgbClr val="4F7A3A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439EB2-AB52-23CA-C4EB-32D22CDB21F3}"/>
              </a:ext>
            </a:extLst>
          </p:cNvPr>
          <p:cNvSpPr/>
          <p:nvPr/>
        </p:nvSpPr>
        <p:spPr>
          <a:xfrm>
            <a:off x="508000" y="1397000"/>
            <a:ext cx="2641600" cy="1905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5906E4-3759-FC73-9AE6-29CA15EAA0D4}"/>
              </a:ext>
            </a:extLst>
          </p:cNvPr>
          <p:cNvSpPr txBox="1"/>
          <p:nvPr/>
        </p:nvSpPr>
        <p:spPr>
          <a:xfrm>
            <a:off x="736600" y="1625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000" b="1">
                <a:solidFill>
                  <a:srgbClr val="C8654A"/>
                </a:solidFill>
                <a:latin typeface="Leelawadee UI" panose="020B0502040204020203" pitchFamily="34" charset="-34"/>
              </a:rPr>
              <a:t>~2M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A7CA3-1E82-D3B7-7B0B-8DAE63C7FC00}"/>
              </a:ext>
            </a:extLst>
          </p:cNvPr>
          <p:cNvSpPr txBox="1"/>
          <p:nvPr/>
        </p:nvSpPr>
        <p:spPr>
          <a:xfrm>
            <a:off x="7366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นักท่องเที่ยวจีนสะสม
1 ม.ค.–10 พ.ค. 69 · อันดับ 1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C77D18-8CD3-B852-BA93-83A3FCADD349}"/>
              </a:ext>
            </a:extLst>
          </p:cNvPr>
          <p:cNvSpPr/>
          <p:nvPr/>
        </p:nvSpPr>
        <p:spPr>
          <a:xfrm>
            <a:off x="3352800" y="1397000"/>
            <a:ext cx="2641600" cy="1905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EEBC4-4B1D-B87E-A741-A36756D3107F}"/>
              </a:ext>
            </a:extLst>
          </p:cNvPr>
          <p:cNvSpPr txBox="1"/>
          <p:nvPr/>
        </p:nvSpPr>
        <p:spPr>
          <a:xfrm>
            <a:off x="3581400" y="1625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000" b="1">
                <a:solidFill>
                  <a:srgbClr val="C8654A"/>
                </a:solidFill>
                <a:latin typeface="Leelawadee UI" panose="020B0502040204020203" pitchFamily="34" charset="-34"/>
              </a:rPr>
              <a:t>12.4M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3CBF10-DC5B-915D-D397-A311DF8B9988}"/>
              </a:ext>
            </a:extLst>
          </p:cNvPr>
          <p:cNvSpPr txBox="1"/>
          <p:nvPr/>
        </p:nvSpPr>
        <p:spPr>
          <a:xfrm>
            <a:off x="35814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ต่างชาติเที่ยวไทยสะสม
ช่วงเดียวกัน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84CBDA-52F5-B5B0-C9C2-0D9D3CC605CA}"/>
              </a:ext>
            </a:extLst>
          </p:cNvPr>
          <p:cNvSpPr/>
          <p:nvPr/>
        </p:nvSpPr>
        <p:spPr>
          <a:xfrm>
            <a:off x="6197600" y="1397000"/>
            <a:ext cx="2641600" cy="1905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DFFF02-0CD1-1145-A6A5-7A2E2EE19E0D}"/>
              </a:ext>
            </a:extLst>
          </p:cNvPr>
          <p:cNvSpPr txBox="1"/>
          <p:nvPr/>
        </p:nvSpPr>
        <p:spPr>
          <a:xfrm>
            <a:off x="6426200" y="1625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000" b="1">
                <a:solidFill>
                  <a:srgbClr val="C8654A"/>
                </a:solidFill>
                <a:latin typeface="Leelawadee UI" panose="020B0502040204020203" pitchFamily="34" charset="-34"/>
              </a:rPr>
              <a:t>1.08M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6DAD5B-1392-507F-F6BF-77247B6CE08B}"/>
              </a:ext>
            </a:extLst>
          </p:cNvPr>
          <p:cNvSpPr txBox="1"/>
          <p:nvPr/>
        </p:nvSpPr>
        <p:spPr>
          <a:xfrm>
            <a:off x="64262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นักท่องเที่ยวจีน
2 เดือนแรกปี 2569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D3A8151-4AE5-849B-DD87-B2C32D3E83C5}"/>
              </a:ext>
            </a:extLst>
          </p:cNvPr>
          <p:cNvSpPr/>
          <p:nvPr/>
        </p:nvSpPr>
        <p:spPr>
          <a:xfrm>
            <a:off x="9042400" y="1397000"/>
            <a:ext cx="2641600" cy="1905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2D5D76-C2BC-718A-2C9B-48DFAA728193}"/>
              </a:ext>
            </a:extLst>
          </p:cNvPr>
          <p:cNvSpPr txBox="1"/>
          <p:nvPr/>
        </p:nvSpPr>
        <p:spPr>
          <a:xfrm>
            <a:off x="9271000" y="1625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4000" b="1">
                <a:solidFill>
                  <a:srgbClr val="C8654A"/>
                </a:solidFill>
                <a:latin typeface="Leelawadee UI" panose="020B0502040204020203" pitchFamily="34" charset="-34"/>
              </a:rPr>
              <a:t>-30%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7FA18-D332-5463-22C4-A1BD271F6A7A}"/>
              </a:ext>
            </a:extLst>
          </p:cNvPr>
          <p:cNvSpPr txBox="1"/>
          <p:nvPr/>
        </p:nvSpPr>
        <p:spPr>
          <a:xfrm>
            <a:off x="9271000" y="2387600"/>
            <a:ext cx="218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ปี 2568 เทียบปีก่อน
ฐานกำลังฟื้นตัว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6D0771-8735-8435-1EF0-1DC712B67422}"/>
              </a:ext>
            </a:extLst>
          </p:cNvPr>
          <p:cNvSpPr/>
          <p:nvPr/>
        </p:nvSpPr>
        <p:spPr>
          <a:xfrm>
            <a:off x="508000" y="3810000"/>
            <a:ext cx="11176000" cy="1219200"/>
          </a:xfrm>
          <a:prstGeom prst="roundRect">
            <a:avLst/>
          </a:prstGeom>
          <a:solidFill>
            <a:srgbClr val="EF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40912-436E-197F-74E2-901136697D47}"/>
              </a:ext>
            </a:extLst>
          </p:cNvPr>
          <p:cNvSpPr txBox="1"/>
          <p:nvPr/>
        </p:nvSpPr>
        <p:spPr>
          <a:xfrm>
            <a:off x="812800" y="40386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50">
                <a:solidFill>
                  <a:srgbClr val="4A3B2C"/>
                </a:solidFill>
                <a:latin typeface="Leelawadee UI" panose="020B0502040204020203" pitchFamily="34" charset="-34"/>
              </a:rPr>
              <a:t>💡 </a:t>
            </a:r>
            <a:r>
              <a:rPr lang="th-TH" sz="1450">
                <a:solidFill>
                  <a:srgbClr val="4A3B2C"/>
                </a:solidFill>
                <a:latin typeface="Leelawadee UI" panose="020B0502040204020203" pitchFamily="34" charset="-34"/>
              </a:rPr>
              <a:t>จีนยังเป็นตลาดอันดับ 1 ของไทยแม้ฐานปี 2568 หดตัว — กระแส "ของกิน/คาเฟ่" บนโซเชียลจีน (</a:t>
            </a:r>
            <a:r>
              <a:rPr lang="en-US" sz="1450">
                <a:solidFill>
                  <a:srgbClr val="4A3B2C"/>
                </a:solidFill>
                <a:latin typeface="Leelawadee UI" panose="020B0502040204020203" pitchFamily="34" charset="-34"/>
              </a:rPr>
              <a:t>Xiaohongshu/Douyin) </a:t>
            </a:r>
            <a:r>
              <a:rPr lang="th-TH" sz="1450">
                <a:solidFill>
                  <a:srgbClr val="4A3B2C"/>
                </a:solidFill>
                <a:latin typeface="Leelawadee UI" panose="020B0502040204020203" pitchFamily="34" charset="-34"/>
              </a:rPr>
              <a:t>เป็นตัวขับเคลื่อนการฟื้นตัวและการตัดสินใจเดินทางรอบใหม่</a:t>
            </a:r>
            <a:endParaRPr lang="en-US" sz="14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84702-5801-115E-A245-88DD59A8DB26}"/>
              </a:ext>
            </a:extLst>
          </p:cNvPr>
          <p:cNvSpPr txBox="1"/>
          <p:nvPr/>
        </p:nvSpPr>
        <p:spPr>
          <a:xfrm>
            <a:off x="508000" y="6172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ที่มา: กระทรวงการท่องเที่ยวและกีฬา / ททท. · ไทยโพสต์ · กรุงเทพธุรกิจ (ณ พ.ค.–มิ.ย. 2569)</a:t>
            </a:r>
            <a:endParaRPr lang="en-US" sz="10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9544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BED280-A96B-D201-72C3-D1E9033AFD93}"/>
              </a:ext>
            </a:extLst>
          </p:cNvPr>
          <p:cNvSpPr txBox="1"/>
          <p:nvPr/>
        </p:nvSpPr>
        <p:spPr>
          <a:xfrm>
            <a:off x="508000" y="355600"/>
            <a:ext cx="889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🏆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อันดับขนมปังยอดนิยม · มิ.ย. 2026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811E9E7-65E5-7872-F819-5C2C8D8B7D35}"/>
              </a:ext>
            </a:extLst>
          </p:cNvPr>
          <p:cNvSpPr/>
          <p:nvPr/>
        </p:nvSpPr>
        <p:spPr>
          <a:xfrm>
            <a:off x="10033000" y="482600"/>
            <a:ext cx="1651000" cy="304800"/>
          </a:xfrm>
          <a:prstGeom prst="roundRect">
            <a:avLst/>
          </a:prstGeom>
          <a:solidFill>
            <a:srgbClr val="F6E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74FFD-F3B2-DAB1-2113-51F14561BA1D}"/>
              </a:ext>
            </a:extLst>
          </p:cNvPr>
          <p:cNvSpPr txBox="1"/>
          <p:nvPr/>
        </p:nvSpPr>
        <p:spPr>
          <a:xfrm>
            <a:off x="10033000" y="5207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9A6B1E"/>
                </a:solidFill>
                <a:latin typeface="Leelawadee UI" panose="020B0502040204020203" pitchFamily="34" charset="-34"/>
              </a:rPr>
              <a:t>🟡 </a:t>
            </a:r>
            <a:r>
              <a:rPr lang="th-TH" sz="1100" b="1">
                <a:solidFill>
                  <a:srgbClr val="9A6B1E"/>
                </a:solidFill>
                <a:latin typeface="Leelawadee UI" panose="020B0502040204020203" pitchFamily="34" charset="-34"/>
              </a:rPr>
              <a:t>ค่าประเมิน</a:t>
            </a:r>
            <a:endParaRPr lang="en-US" sz="1100" b="1">
              <a:solidFill>
                <a:srgbClr val="9A6B1E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4513B-CFE8-8C27-AA9F-4B7DA2F69DF3}"/>
              </a:ext>
            </a:extLst>
          </p:cNvPr>
          <p:cNvSpPr txBox="1"/>
          <p:nvPr/>
        </p:nvSpPr>
        <p:spPr>
          <a:xfrm>
            <a:off x="508000" y="1244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ขนมปังเกลือ (</a:t>
            </a:r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Shio Pan)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C7A38E4-EB97-0DDA-5676-5D36B0551B47}"/>
              </a:ext>
            </a:extLst>
          </p:cNvPr>
          <p:cNvSpPr/>
          <p:nvPr/>
        </p:nvSpPr>
        <p:spPr>
          <a:xfrm>
            <a:off x="3175000" y="1219200"/>
            <a:ext cx="6543040" cy="304800"/>
          </a:xfrm>
          <a:prstGeom prst="roundRect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6D2592-6A3A-D2AA-9BA7-9BC05DD89160}"/>
              </a:ext>
            </a:extLst>
          </p:cNvPr>
          <p:cNvSpPr txBox="1"/>
          <p:nvPr/>
        </p:nvSpPr>
        <p:spPr>
          <a:xfrm>
            <a:off x="9845040" y="1244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92  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D78882-8489-3DBF-6404-30540BDA76EE}"/>
              </a:ext>
            </a:extLst>
          </p:cNvPr>
          <p:cNvSpPr txBox="1"/>
          <p:nvPr/>
        </p:nvSpPr>
        <p:spPr>
          <a:xfrm>
            <a:off x="508000" y="1828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มนต์นมสด (โทสต์นมสด)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D372F5-C461-0D5A-A6E8-BC7FB05A237E}"/>
              </a:ext>
            </a:extLst>
          </p:cNvPr>
          <p:cNvSpPr/>
          <p:nvPr/>
        </p:nvSpPr>
        <p:spPr>
          <a:xfrm>
            <a:off x="3175000" y="1803400"/>
            <a:ext cx="6400800" cy="304800"/>
          </a:xfrm>
          <a:prstGeom prst="roundRect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9518C7-DBA5-4EC4-78CB-796307D6DE69}"/>
              </a:ext>
            </a:extLst>
          </p:cNvPr>
          <p:cNvSpPr txBox="1"/>
          <p:nvPr/>
        </p:nvSpPr>
        <p:spPr>
          <a:xfrm>
            <a:off x="9702800" y="18288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90  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5F294C-FD73-D556-B686-0324FC8D4CD3}"/>
              </a:ext>
            </a:extLst>
          </p:cNvPr>
          <p:cNvSpPr txBox="1"/>
          <p:nvPr/>
        </p:nvSpPr>
        <p:spPr>
          <a:xfrm>
            <a:off x="508000" y="2413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After You Durian Bun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A068B6-3FB7-F4C4-B300-92079260299F}"/>
              </a:ext>
            </a:extLst>
          </p:cNvPr>
          <p:cNvSpPr/>
          <p:nvPr/>
        </p:nvSpPr>
        <p:spPr>
          <a:xfrm>
            <a:off x="3175000" y="2387600"/>
            <a:ext cx="5618480" cy="304800"/>
          </a:xfrm>
          <a:prstGeom prst="roundRect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FBC7CA-FF07-95DC-8AEB-CBEACFB49555}"/>
              </a:ext>
            </a:extLst>
          </p:cNvPr>
          <p:cNvSpPr txBox="1"/>
          <p:nvPr/>
        </p:nvSpPr>
        <p:spPr>
          <a:xfrm>
            <a:off x="8920480" y="24130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79  ▲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DC90BA-35A3-33F3-F7A4-9EF59148DE64}"/>
              </a:ext>
            </a:extLst>
          </p:cNvPr>
          <p:cNvSpPr txBox="1"/>
          <p:nvPr/>
        </p:nvSpPr>
        <p:spPr>
          <a:xfrm>
            <a:off x="508000" y="2997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ปาท่องโก๋ / สังขยา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7D0C4D0-6D49-9A7E-ED83-80672D12F7BE}"/>
              </a:ext>
            </a:extLst>
          </p:cNvPr>
          <p:cNvSpPr/>
          <p:nvPr/>
        </p:nvSpPr>
        <p:spPr>
          <a:xfrm>
            <a:off x="3175000" y="2971800"/>
            <a:ext cx="5120640" cy="304800"/>
          </a:xfrm>
          <a:prstGeom prst="roundRect">
            <a:avLst/>
          </a:prstGeom>
          <a:solidFill>
            <a:srgbClr val="6F9B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78C218-C98A-E206-1BCF-DB2C8D535B7F}"/>
              </a:ext>
            </a:extLst>
          </p:cNvPr>
          <p:cNvSpPr txBox="1"/>
          <p:nvPr/>
        </p:nvSpPr>
        <p:spPr>
          <a:xfrm>
            <a:off x="8422640" y="29972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72  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635468-35FF-526A-AD59-C9CC15BEC087}"/>
              </a:ext>
            </a:extLst>
          </p:cNvPr>
          <p:cNvSpPr txBox="1"/>
          <p:nvPr/>
        </p:nvSpPr>
        <p:spPr>
          <a:xfrm>
            <a:off x="508000" y="35814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ครัวซองต์มัทฉะ/พิสตาชิโอ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B922E65-5E67-E265-8E2A-1BB5178CBE8B}"/>
              </a:ext>
            </a:extLst>
          </p:cNvPr>
          <p:cNvSpPr/>
          <p:nvPr/>
        </p:nvSpPr>
        <p:spPr>
          <a:xfrm>
            <a:off x="3175000" y="3556000"/>
            <a:ext cx="5049520" cy="304800"/>
          </a:xfrm>
          <a:prstGeom prst="roundRect">
            <a:avLst/>
          </a:prstGeom>
          <a:solidFill>
            <a:srgbClr val="A98BB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303632-C152-D06E-A164-936C2105642E}"/>
              </a:ext>
            </a:extLst>
          </p:cNvPr>
          <p:cNvSpPr txBox="1"/>
          <p:nvPr/>
        </p:nvSpPr>
        <p:spPr>
          <a:xfrm>
            <a:off x="8351520" y="35814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71  ▲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93B04A-9AD0-E188-6819-9C5D0EEAEA8C}"/>
              </a:ext>
            </a:extLst>
          </p:cNvPr>
          <p:cNvSpPr txBox="1"/>
          <p:nvPr/>
        </p:nvSpPr>
        <p:spPr>
          <a:xfrm>
            <a:off x="508000" y="41656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ขนมปังเผือก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DEA3BE-067F-BDA3-47BD-FA168073757B}"/>
              </a:ext>
            </a:extLst>
          </p:cNvPr>
          <p:cNvSpPr/>
          <p:nvPr/>
        </p:nvSpPr>
        <p:spPr>
          <a:xfrm>
            <a:off x="3175000" y="4140200"/>
            <a:ext cx="4551680" cy="304800"/>
          </a:xfrm>
          <a:prstGeom prst="roundRect">
            <a:avLst/>
          </a:prstGeom>
          <a:solidFill>
            <a:srgbClr val="B07F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5D0EB-E662-94A2-9063-788204B01A47}"/>
              </a:ext>
            </a:extLst>
          </p:cNvPr>
          <p:cNvSpPr txBox="1"/>
          <p:nvPr/>
        </p:nvSpPr>
        <p:spPr>
          <a:xfrm>
            <a:off x="7853680" y="41656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64  ▲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46DA62-9DAC-F962-4761-A102E5F8CC80}"/>
              </a:ext>
            </a:extLst>
          </p:cNvPr>
          <p:cNvSpPr txBox="1"/>
          <p:nvPr/>
        </p:nvSpPr>
        <p:spPr>
          <a:xfrm>
            <a:off x="508000" y="47498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ขนมปังหมูหยอง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487F044-3115-8ABA-66A7-E148BD86689A}"/>
              </a:ext>
            </a:extLst>
          </p:cNvPr>
          <p:cNvSpPr/>
          <p:nvPr/>
        </p:nvSpPr>
        <p:spPr>
          <a:xfrm>
            <a:off x="3175000" y="4724400"/>
            <a:ext cx="4480560" cy="304800"/>
          </a:xfrm>
          <a:prstGeom prst="roundRect">
            <a:avLst/>
          </a:prstGeom>
          <a:solidFill>
            <a:srgbClr val="D98B5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C9F487-E43E-9D13-F327-45DDD4F132BC}"/>
              </a:ext>
            </a:extLst>
          </p:cNvPr>
          <p:cNvSpPr txBox="1"/>
          <p:nvPr/>
        </p:nvSpPr>
        <p:spPr>
          <a:xfrm>
            <a:off x="7782560" y="47498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63  —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6B3B68-4A09-2B38-AA3E-0B657A446848}"/>
              </a:ext>
            </a:extLst>
          </p:cNvPr>
          <p:cNvSpPr txBox="1"/>
          <p:nvPr/>
        </p:nvSpPr>
        <p:spPr>
          <a:xfrm>
            <a:off x="508000" y="53340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 b="1">
                <a:solidFill>
                  <a:srgbClr val="4A3B2C"/>
                </a:solidFill>
                <a:latin typeface="Leelawadee UI" panose="020B0502040204020203" pitchFamily="34" charset="-34"/>
              </a:rPr>
              <a:t>โทสต์คาเฟ่ถ่ายรูป</a:t>
            </a:r>
            <a:endParaRPr lang="en-US" sz="12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EAA60C9-9FBD-663D-9E52-D706B7539A92}"/>
              </a:ext>
            </a:extLst>
          </p:cNvPr>
          <p:cNvSpPr/>
          <p:nvPr/>
        </p:nvSpPr>
        <p:spPr>
          <a:xfrm>
            <a:off x="3175000" y="5308600"/>
            <a:ext cx="4124960" cy="304800"/>
          </a:xfrm>
          <a:prstGeom prst="roundRect">
            <a:avLst/>
          </a:prstGeom>
          <a:solidFill>
            <a:srgbClr val="6CA6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18BB5-2160-7854-B4C8-A0493B152E36}"/>
              </a:ext>
            </a:extLst>
          </p:cNvPr>
          <p:cNvSpPr txBox="1"/>
          <p:nvPr/>
        </p:nvSpPr>
        <p:spPr>
          <a:xfrm>
            <a:off x="7426960" y="5334000"/>
            <a:ext cx="88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 b="1">
                <a:solidFill>
                  <a:srgbClr val="4A3B2C"/>
                </a:solidFill>
                <a:latin typeface="Leelawadee UI" panose="020B0502040204020203" pitchFamily="34" charset="-34"/>
              </a:rPr>
              <a:t>58  ▲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83A8B0-1BC2-0E5D-57F4-07E38622B70A}"/>
              </a:ext>
            </a:extLst>
          </p:cNvPr>
          <p:cNvSpPr txBox="1"/>
          <p:nvPr/>
        </p:nvSpPr>
        <p:spPr>
          <a:xfrm>
            <a:off x="508000" y="59436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คะแนนความนิยม 0–100 ประเมินจากกระแสรีวิว/การพูดถึง · เป็นค่าประเมินเชิงสาธิต (ดูสไลด์แหล่งข้อมูล)</a:t>
            </a:r>
            <a:endParaRPr lang="en-US" sz="10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1106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F1360-95E4-753E-B7D7-4BB10C3EF65A}"/>
              </a:ext>
            </a:extLst>
          </p:cNvPr>
          <p:cNvSpPr txBox="1"/>
          <p:nvPr/>
        </p:nvSpPr>
        <p:spPr>
          <a:xfrm>
            <a:off x="508000" y="355600"/>
            <a:ext cx="965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📈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โมเมนตัมครึ่งปีแรก → คาดการณ์สิ้นปี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5EB077E-7DFD-D0E8-0839-DBF0443F7622}"/>
              </a:ext>
            </a:extLst>
          </p:cNvPr>
          <p:cNvSpPr/>
          <p:nvPr/>
        </p:nvSpPr>
        <p:spPr>
          <a:xfrm>
            <a:off x="10160000" y="482600"/>
            <a:ext cx="1524000" cy="304800"/>
          </a:xfrm>
          <a:prstGeom prst="roundRect">
            <a:avLst/>
          </a:prstGeom>
          <a:solidFill>
            <a:srgbClr val="F6E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75267-EA0B-A0A3-D64E-59257D5944E8}"/>
              </a:ext>
            </a:extLst>
          </p:cNvPr>
          <p:cNvSpPr txBox="1"/>
          <p:nvPr/>
        </p:nvSpPr>
        <p:spPr>
          <a:xfrm>
            <a:off x="10160000" y="5207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9A6B1E"/>
                </a:solidFill>
                <a:latin typeface="Leelawadee UI" panose="020B0502040204020203" pitchFamily="34" charset="-34"/>
              </a:rPr>
              <a:t>🟡 forecast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2AF767-8424-793E-7C6D-CF96A16A87BA}"/>
              </a:ext>
            </a:extLst>
          </p:cNvPr>
          <p:cNvSpPr/>
          <p:nvPr/>
        </p:nvSpPr>
        <p:spPr>
          <a:xfrm>
            <a:off x="508000" y="1270000"/>
            <a:ext cx="5080000" cy="11176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ADECD3-539E-989D-A7DF-376D6D380B87}"/>
              </a:ext>
            </a:extLst>
          </p:cNvPr>
          <p:cNvSpPr txBox="1"/>
          <p:nvPr/>
        </p:nvSpPr>
        <p:spPr>
          <a:xfrm>
            <a:off x="787400" y="1447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C8654A"/>
                </a:solidFill>
                <a:latin typeface="Leelawadee UI" panose="020B0502040204020203" pitchFamily="34" charset="-34"/>
              </a:rPr>
              <a:t>+37 จุด</a:t>
            </a:r>
            <a:endParaRPr lang="en-US" sz="2600" b="1">
              <a:solidFill>
                <a:srgbClr val="C8654A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714F20-DD28-D798-A951-09CAD923E52C}"/>
              </a:ext>
            </a:extLst>
          </p:cNvPr>
          <p:cNvSpPr txBox="1"/>
          <p:nvPr/>
        </p:nvSpPr>
        <p:spPr>
          <a:xfrm>
            <a:off x="2540000" y="14478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4A3B2C"/>
                </a:solidFill>
                <a:latin typeface="Leelawadee UI" panose="020B0502040204020203" pitchFamily="34" charset="-34"/>
              </a:rPr>
              <a:t>Shio Pan (55→92) — </a:t>
            </a:r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เมนูไวรัลแห่งปี ร้านต่อคิวทั้ง กทม./เชียงใหม่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5F6FD8C-9EF3-954A-05E7-0D72AC906B1D}"/>
              </a:ext>
            </a:extLst>
          </p:cNvPr>
          <p:cNvSpPr/>
          <p:nvPr/>
        </p:nvSpPr>
        <p:spPr>
          <a:xfrm>
            <a:off x="508000" y="2590800"/>
            <a:ext cx="5080000" cy="11176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0813F-7607-6326-2951-E692BCCB16A4}"/>
              </a:ext>
            </a:extLst>
          </p:cNvPr>
          <p:cNvSpPr txBox="1"/>
          <p:nvPr/>
        </p:nvSpPr>
        <p:spPr>
          <a:xfrm>
            <a:off x="787400" y="2768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C8654A"/>
                </a:solidFill>
                <a:latin typeface="Leelawadee UI" panose="020B0502040204020203" pitchFamily="34" charset="-34"/>
              </a:rPr>
              <a:t>+31 จุด</a:t>
            </a:r>
            <a:endParaRPr lang="en-US" sz="2600" b="1">
              <a:solidFill>
                <a:srgbClr val="C8654A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5242C-FC95-B7F1-E040-DAC4F962649A}"/>
              </a:ext>
            </a:extLst>
          </p:cNvPr>
          <p:cNvSpPr txBox="1"/>
          <p:nvPr/>
        </p:nvSpPr>
        <p:spPr>
          <a:xfrm>
            <a:off x="2540000" y="27686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ครัวซองต์มัทฉะ/พิสตาชิโอ (40→71) — รับเทรนด์รสชาติ 2026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C6E4C88-8948-4240-29C2-370A2DDCD771}"/>
              </a:ext>
            </a:extLst>
          </p:cNvPr>
          <p:cNvSpPr/>
          <p:nvPr/>
        </p:nvSpPr>
        <p:spPr>
          <a:xfrm>
            <a:off x="508000" y="3911600"/>
            <a:ext cx="5080000" cy="11176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F119E-0B04-2A06-FB6D-C99A628907AC}"/>
              </a:ext>
            </a:extLst>
          </p:cNvPr>
          <p:cNvSpPr txBox="1"/>
          <p:nvPr/>
        </p:nvSpPr>
        <p:spPr>
          <a:xfrm>
            <a:off x="787400" y="40894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2600" b="1">
                <a:solidFill>
                  <a:srgbClr val="C8654A"/>
                </a:solidFill>
                <a:latin typeface="Leelawadee UI" panose="020B0502040204020203" pitchFamily="34" charset="-34"/>
              </a:rPr>
              <a:t>+29 จุด</a:t>
            </a:r>
            <a:endParaRPr lang="en-US" sz="2600" b="1">
              <a:solidFill>
                <a:srgbClr val="C8654A"/>
              </a:solidFill>
              <a:latin typeface="Leelawadee UI" panose="020B0502040204020203" pitchFamily="34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5186E-94C9-57E5-0E13-954BECAC18C0}"/>
              </a:ext>
            </a:extLst>
          </p:cNvPr>
          <p:cNvSpPr txBox="1"/>
          <p:nvPr/>
        </p:nvSpPr>
        <p:spPr>
          <a:xfrm>
            <a:off x="2540000" y="4089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ขนมปังเผือก (35→64) — รสเผือกมาแรง ถ่ายรูปสวย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EC5F85-3415-8CE7-5EE6-E1F8AEB2DAC3}"/>
              </a:ext>
            </a:extLst>
          </p:cNvPr>
          <p:cNvSpPr txBox="1"/>
          <p:nvPr/>
        </p:nvSpPr>
        <p:spPr>
          <a:xfrm>
            <a:off x="6350000" y="1219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มิ.ย. (จริง) เทียบ ธ.ค. (คาดการณ์)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E34722-0E81-A6D3-88F9-A3FAE4D1BFFE}"/>
              </a:ext>
            </a:extLst>
          </p:cNvPr>
          <p:cNvSpPr txBox="1"/>
          <p:nvPr/>
        </p:nvSpPr>
        <p:spPr>
          <a:xfrm>
            <a:off x="6350000" y="17018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A3B2C"/>
                </a:solidFill>
                <a:latin typeface="Leelawadee UI" panose="020B0502040204020203" pitchFamily="34" charset="-34"/>
              </a:rPr>
              <a:t>Shio Pan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D5E5D1-7B71-0B67-39D4-8B54100A3CA0}"/>
              </a:ext>
            </a:extLst>
          </p:cNvPr>
          <p:cNvSpPr/>
          <p:nvPr/>
        </p:nvSpPr>
        <p:spPr>
          <a:xfrm>
            <a:off x="8001000" y="1714500"/>
            <a:ext cx="3505200" cy="177800"/>
          </a:xfrm>
          <a:prstGeom prst="roundRect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C22C14-8226-4085-64A0-4F28F4377A8A}"/>
              </a:ext>
            </a:extLst>
          </p:cNvPr>
          <p:cNvSpPr txBox="1"/>
          <p:nvPr/>
        </p:nvSpPr>
        <p:spPr>
          <a:xfrm>
            <a:off x="11607800" y="1689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A3B2C"/>
                </a:solidFill>
                <a:latin typeface="Leelawadee UI" panose="020B0502040204020203" pitchFamily="34" charset="-34"/>
              </a:rPr>
              <a:t>92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F5374F-F2BA-FE1B-9267-AB718FAAC51F}"/>
              </a:ext>
            </a:extLst>
          </p:cNvPr>
          <p:cNvSpPr/>
          <p:nvPr/>
        </p:nvSpPr>
        <p:spPr>
          <a:xfrm>
            <a:off x="8001000" y="1968500"/>
            <a:ext cx="3733800" cy="177800"/>
          </a:xfrm>
          <a:prstGeom prst="roundRect">
            <a:avLst/>
          </a:prstGeom>
          <a:noFill/>
          <a:ln w="19050" cap="flat" cmpd="sng" algn="ctr">
            <a:solidFill>
              <a:srgbClr val="C8654A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D652EF-066F-0C27-7EC1-F088D589B8E8}"/>
              </a:ext>
            </a:extLst>
          </p:cNvPr>
          <p:cNvSpPr txBox="1"/>
          <p:nvPr/>
        </p:nvSpPr>
        <p:spPr>
          <a:xfrm>
            <a:off x="11836400" y="19431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C876E"/>
                </a:solidFill>
                <a:latin typeface="Leelawadee UI" panose="020B0502040204020203" pitchFamily="34" charset="-34"/>
              </a:rPr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8CCA0B-FF5F-3D42-D4AD-FF3DAAC09D16}"/>
              </a:ext>
            </a:extLst>
          </p:cNvPr>
          <p:cNvSpPr txBox="1"/>
          <p:nvPr/>
        </p:nvSpPr>
        <p:spPr>
          <a:xfrm>
            <a:off x="6350000" y="2489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4A3B2C"/>
                </a:solidFill>
                <a:latin typeface="Leelawadee UI" panose="020B0502040204020203" pitchFamily="34" charset="-34"/>
              </a:rPr>
              <a:t>มนต์นมสด</a:t>
            </a:r>
            <a:endParaRPr lang="en-US" sz="12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4CD61E-FB1E-B4EF-A231-8F8DF72061E2}"/>
              </a:ext>
            </a:extLst>
          </p:cNvPr>
          <p:cNvSpPr/>
          <p:nvPr/>
        </p:nvSpPr>
        <p:spPr>
          <a:xfrm>
            <a:off x="8001000" y="2501900"/>
            <a:ext cx="3429000" cy="177800"/>
          </a:xfrm>
          <a:prstGeom prst="roundRect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46C911-EE4C-CFC9-449E-15C677023325}"/>
              </a:ext>
            </a:extLst>
          </p:cNvPr>
          <p:cNvSpPr txBox="1"/>
          <p:nvPr/>
        </p:nvSpPr>
        <p:spPr>
          <a:xfrm>
            <a:off x="11531600" y="2476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A3B2C"/>
                </a:solidFill>
                <a:latin typeface="Leelawadee UI" panose="020B0502040204020203" pitchFamily="34" charset="-34"/>
              </a:rPr>
              <a:t>90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4154C2-E549-2F3C-0AEF-FEEE24D92928}"/>
              </a:ext>
            </a:extLst>
          </p:cNvPr>
          <p:cNvSpPr/>
          <p:nvPr/>
        </p:nvSpPr>
        <p:spPr>
          <a:xfrm>
            <a:off x="8001000" y="2755900"/>
            <a:ext cx="3695700" cy="177800"/>
          </a:xfrm>
          <a:prstGeom prst="roundRect">
            <a:avLst/>
          </a:prstGeom>
          <a:noFill/>
          <a:ln w="19050" cap="flat" cmpd="sng" algn="ctr">
            <a:solidFill>
              <a:srgbClr val="E0A13C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65FD39-7A10-8706-EB0A-0EF9D081E47D}"/>
              </a:ext>
            </a:extLst>
          </p:cNvPr>
          <p:cNvSpPr txBox="1"/>
          <p:nvPr/>
        </p:nvSpPr>
        <p:spPr>
          <a:xfrm>
            <a:off x="11798300" y="2730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C876E"/>
                </a:solidFill>
                <a:latin typeface="Leelawadee UI" panose="020B0502040204020203" pitchFamily="34" charset="-34"/>
              </a:rPr>
              <a:t>97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351795-CB77-8822-9644-09F37D186694}"/>
              </a:ext>
            </a:extLst>
          </p:cNvPr>
          <p:cNvSpPr txBox="1"/>
          <p:nvPr/>
        </p:nvSpPr>
        <p:spPr>
          <a:xfrm>
            <a:off x="6350000" y="3276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4A3B2C"/>
                </a:solidFill>
                <a:latin typeface="Leelawadee UI" panose="020B0502040204020203" pitchFamily="34" charset="-34"/>
              </a:rPr>
              <a:t>Durian Bun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79DCC9B-CFC8-C8C7-A603-98DA41AEFA4E}"/>
              </a:ext>
            </a:extLst>
          </p:cNvPr>
          <p:cNvSpPr/>
          <p:nvPr/>
        </p:nvSpPr>
        <p:spPr>
          <a:xfrm>
            <a:off x="8001000" y="3289300"/>
            <a:ext cx="3009900" cy="177800"/>
          </a:xfrm>
          <a:prstGeom prst="roundRect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90EF34-968E-5087-704D-767C1E396605}"/>
              </a:ext>
            </a:extLst>
          </p:cNvPr>
          <p:cNvSpPr txBox="1"/>
          <p:nvPr/>
        </p:nvSpPr>
        <p:spPr>
          <a:xfrm>
            <a:off x="11112500" y="32639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A3B2C"/>
                </a:solidFill>
                <a:latin typeface="Leelawadee UI" panose="020B0502040204020203" pitchFamily="34" charset="-34"/>
              </a:rPr>
              <a:t>79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466E3F0-112F-81D8-A5C6-ABFDD468BA12}"/>
              </a:ext>
            </a:extLst>
          </p:cNvPr>
          <p:cNvSpPr/>
          <p:nvPr/>
        </p:nvSpPr>
        <p:spPr>
          <a:xfrm>
            <a:off x="8001000" y="3543300"/>
            <a:ext cx="3429000" cy="177800"/>
          </a:xfrm>
          <a:prstGeom prst="roundRect">
            <a:avLst/>
          </a:prstGeom>
          <a:noFill/>
          <a:ln w="19050" cap="flat" cmpd="sng" algn="ctr">
            <a:solidFill>
              <a:srgbClr val="7FA36A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A47CAC-881F-4494-831A-FB1FBC5E35B7}"/>
              </a:ext>
            </a:extLst>
          </p:cNvPr>
          <p:cNvSpPr txBox="1"/>
          <p:nvPr/>
        </p:nvSpPr>
        <p:spPr>
          <a:xfrm>
            <a:off x="11531600" y="35179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C876E"/>
                </a:solidFill>
                <a:latin typeface="Leelawadee UI" panose="020B0502040204020203" pitchFamily="34" charset="-34"/>
              </a:rPr>
              <a:t>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241286-9CF6-3674-F8B9-21F2399E4E82}"/>
              </a:ext>
            </a:extLst>
          </p:cNvPr>
          <p:cNvSpPr txBox="1"/>
          <p:nvPr/>
        </p:nvSpPr>
        <p:spPr>
          <a:xfrm>
            <a:off x="6350000" y="40640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4A3B2C"/>
                </a:solidFill>
                <a:latin typeface="Leelawadee UI" panose="020B0502040204020203" pitchFamily="34" charset="-34"/>
              </a:rPr>
              <a:t>เผือก</a:t>
            </a:r>
            <a:endParaRPr lang="en-US" sz="12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B0400B7-5AB8-892B-AA94-E9E9509B2FE9}"/>
              </a:ext>
            </a:extLst>
          </p:cNvPr>
          <p:cNvSpPr/>
          <p:nvPr/>
        </p:nvSpPr>
        <p:spPr>
          <a:xfrm>
            <a:off x="8001000" y="4076700"/>
            <a:ext cx="2438400" cy="177800"/>
          </a:xfrm>
          <a:prstGeom prst="roundRect">
            <a:avLst/>
          </a:prstGeom>
          <a:solidFill>
            <a:srgbClr val="B07FC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85491-6684-8077-8548-2943ED0B04C4}"/>
              </a:ext>
            </a:extLst>
          </p:cNvPr>
          <p:cNvSpPr txBox="1"/>
          <p:nvPr/>
        </p:nvSpPr>
        <p:spPr>
          <a:xfrm>
            <a:off x="10541000" y="40513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4A3B2C"/>
                </a:solidFill>
                <a:latin typeface="Leelawadee UI" panose="020B0502040204020203" pitchFamily="34" charset="-34"/>
              </a:rPr>
              <a:t>64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459FC5-8A6E-F9C4-BBA2-712A4081FF90}"/>
              </a:ext>
            </a:extLst>
          </p:cNvPr>
          <p:cNvSpPr/>
          <p:nvPr/>
        </p:nvSpPr>
        <p:spPr>
          <a:xfrm>
            <a:off x="8001000" y="4330700"/>
            <a:ext cx="3200400" cy="177800"/>
          </a:xfrm>
          <a:prstGeom prst="roundRect">
            <a:avLst/>
          </a:prstGeom>
          <a:noFill/>
          <a:ln w="19050" cap="flat" cmpd="sng" algn="ctr">
            <a:solidFill>
              <a:srgbClr val="B07FC4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99F6CA-CEE9-A931-08A2-B9A08FBA6182}"/>
              </a:ext>
            </a:extLst>
          </p:cNvPr>
          <p:cNvSpPr txBox="1"/>
          <p:nvPr/>
        </p:nvSpPr>
        <p:spPr>
          <a:xfrm>
            <a:off x="11303000" y="43053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9C876E"/>
                </a:solidFill>
                <a:latin typeface="Leelawadee UI" panose="020B0502040204020203" pitchFamily="34" charset="-34"/>
              </a:rPr>
              <a:t>84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3E6283-8179-FED0-5DF1-C91FD6AB9D4E}"/>
              </a:ext>
            </a:extLst>
          </p:cNvPr>
          <p:cNvSpPr txBox="1"/>
          <p:nvPr/>
        </p:nvSpPr>
        <p:spPr>
          <a:xfrm>
            <a:off x="6350000" y="4978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■ ทึบ = มิ.ย. (ข้อมูลจริง) · ▢ เส้นประ = ธ.ค. (คาดการณ์ </a:t>
            </a:r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🟡)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782EA48-0285-6D68-097A-D679B2D4931F}"/>
              </a:ext>
            </a:extLst>
          </p:cNvPr>
          <p:cNvSpPr/>
          <p:nvPr/>
        </p:nvSpPr>
        <p:spPr>
          <a:xfrm>
            <a:off x="508000" y="5461000"/>
            <a:ext cx="11176000" cy="838200"/>
          </a:xfrm>
          <a:prstGeom prst="roundRect">
            <a:avLst/>
          </a:prstGeom>
          <a:solidFill>
            <a:srgbClr val="EF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900257-2D83-BD31-F337-129CA0EF929C}"/>
              </a:ext>
            </a:extLst>
          </p:cNvPr>
          <p:cNvSpPr txBox="1"/>
          <p:nvPr/>
        </p:nvSpPr>
        <p:spPr>
          <a:xfrm>
            <a:off x="812800" y="56388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50">
                <a:solidFill>
                  <a:srgbClr val="4A3B2C"/>
                </a:solidFill>
                <a:latin typeface="Leelawadee UI" panose="020B0502040204020203" pitchFamily="34" charset="-34"/>
              </a:rPr>
              <a:t>💡 </a:t>
            </a:r>
            <a:r>
              <a:rPr lang="th-TH" sz="1350">
                <a:solidFill>
                  <a:srgbClr val="4A3B2C"/>
                </a:solidFill>
                <a:latin typeface="Leelawadee UI" panose="020B0502040204020203" pitchFamily="34" charset="-34"/>
              </a:rPr>
              <a:t>ครึ่งปีหลังมีตัวเร่ง: </a:t>
            </a:r>
            <a:r>
              <a:rPr lang="en-US" sz="1350">
                <a:solidFill>
                  <a:srgbClr val="4A3B2C"/>
                </a:solidFill>
                <a:latin typeface="Leelawadee UI" panose="020B0502040204020203" pitchFamily="34" charset="-34"/>
              </a:rPr>
              <a:t>Golden Week (</a:t>
            </a:r>
            <a:r>
              <a:rPr lang="th-TH" sz="1350">
                <a:solidFill>
                  <a:srgbClr val="4A3B2C"/>
                </a:solidFill>
                <a:latin typeface="Leelawadee UI" panose="020B0502040204020203" pitchFamily="34" charset="-34"/>
              </a:rPr>
              <a:t>ต.ค.) และไฮซีซั่น ธ.ค. — เมนูของฝาก (ทุเรียน/หมูหยอง) ได้แรงหนุนเพิ่มจากนักท่องเที่ยวกลุ่มช้อปปิ้ง</a:t>
            </a:r>
            <a:endParaRPr lang="en-US" sz="13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89501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2F6E8D-AE8D-5298-75E3-A80B7737F859}"/>
              </a:ext>
            </a:extLst>
          </p:cNvPr>
          <p:cNvSpPr txBox="1"/>
          <p:nvPr/>
        </p:nvSpPr>
        <p:spPr>
          <a:xfrm>
            <a:off x="508000" y="3556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👥 Persona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นักท่องเที่ยวจีน 4 กลุ่มหลัก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5A5A0D-CC0F-3506-A8BA-DA386A028255}"/>
              </a:ext>
            </a:extLst>
          </p:cNvPr>
          <p:cNvSpPr/>
          <p:nvPr/>
        </p:nvSpPr>
        <p:spPr>
          <a:xfrm>
            <a:off x="10160000" y="482600"/>
            <a:ext cx="1524000" cy="304800"/>
          </a:xfrm>
          <a:prstGeom prst="roundRect">
            <a:avLst/>
          </a:prstGeom>
          <a:solidFill>
            <a:srgbClr val="F6E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530D42-FC96-EF9B-DB4B-45F2D0002AAC}"/>
              </a:ext>
            </a:extLst>
          </p:cNvPr>
          <p:cNvSpPr txBox="1"/>
          <p:nvPr/>
        </p:nvSpPr>
        <p:spPr>
          <a:xfrm>
            <a:off x="10160000" y="5207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9A6B1E"/>
                </a:solidFill>
                <a:latin typeface="Leelawadee UI" panose="020B0502040204020203" pitchFamily="34" charset="-34"/>
              </a:rPr>
              <a:t>🟡 </a:t>
            </a:r>
            <a:r>
              <a:rPr lang="th-TH" sz="1100" b="1">
                <a:solidFill>
                  <a:srgbClr val="9A6B1E"/>
                </a:solidFill>
                <a:latin typeface="Leelawadee UI" panose="020B0502040204020203" pitchFamily="34" charset="-34"/>
              </a:rPr>
              <a:t>สังเคราะห์</a:t>
            </a:r>
            <a:endParaRPr lang="en-US" sz="1100" b="1">
              <a:solidFill>
                <a:srgbClr val="9A6B1E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E45B6E-BAFA-B315-D6DC-49775CF113CA}"/>
              </a:ext>
            </a:extLst>
          </p:cNvPr>
          <p:cNvSpPr/>
          <p:nvPr/>
        </p:nvSpPr>
        <p:spPr>
          <a:xfrm>
            <a:off x="508000" y="1168400"/>
            <a:ext cx="5334000" cy="24384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0AF5CB-A85E-A1F5-7B2C-8434F61BE63A}"/>
              </a:ext>
            </a:extLst>
          </p:cNvPr>
          <p:cNvSpPr/>
          <p:nvPr/>
        </p:nvSpPr>
        <p:spPr>
          <a:xfrm>
            <a:off x="736600" y="1397000"/>
            <a:ext cx="584200" cy="584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541E1-77F2-5F98-6A7A-5CF67594CDBB}"/>
              </a:ext>
            </a:extLst>
          </p:cNvPr>
          <p:cNvSpPr txBox="1"/>
          <p:nvPr/>
        </p:nvSpPr>
        <p:spPr>
          <a:xfrm>
            <a:off x="838200" y="14732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5DB975-BD6E-0A2D-2BA8-F8FEF555310B}"/>
              </a:ext>
            </a:extLst>
          </p:cNvPr>
          <p:cNvSpPr txBox="1"/>
          <p:nvPr/>
        </p:nvSpPr>
        <p:spPr>
          <a:xfrm>
            <a:off x="1498600" y="13970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 b="1">
                <a:solidFill>
                  <a:srgbClr val="4A3B2C"/>
                </a:solidFill>
                <a:latin typeface="Leelawadee UI" panose="020B0502040204020203" pitchFamily="34" charset="-34"/>
              </a:rPr>
              <a:t>เสี่ยวหง สายโซเชียล</a:t>
            </a:r>
            <a:endParaRPr lang="en-US" sz="16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1D5763-B9FF-BB08-0AF5-32E5949AEA80}"/>
              </a:ext>
            </a:extLst>
          </p:cNvPr>
          <p:cNvSpPr txBox="1"/>
          <p:nvPr/>
        </p:nvSpPr>
        <p:spPr>
          <a:xfrm>
            <a:off x="1498600" y="1752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>
                <a:solidFill>
                  <a:srgbClr val="9C876E"/>
                </a:solidFill>
                <a:latin typeface="Leelawadee UI" panose="020B0502040204020203" pitchFamily="34" charset="-34"/>
              </a:rPr>
              <a:t>Gen Z · 18–26 · </a:t>
            </a:r>
            <a:r>
              <a:rPr lang="th-TH" sz="1150">
                <a:solidFill>
                  <a:srgbClr val="9C876E"/>
                </a:solidFill>
                <a:latin typeface="Leelawadee UI" panose="020B0502040204020203" pitchFamily="34" charset="-34"/>
              </a:rPr>
              <a:t>เที่ยวเอง (</a:t>
            </a:r>
            <a:r>
              <a:rPr lang="en-US" sz="1150">
                <a:solidFill>
                  <a:srgbClr val="9C876E"/>
                </a:solidFill>
                <a:latin typeface="Leelawadee UI" panose="020B0502040204020203" pitchFamily="34" charset="-34"/>
              </a:rPr>
              <a:t>FIT)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0270C-B930-3388-EC26-A8EEDE61BEC4}"/>
              </a:ext>
            </a:extLst>
          </p:cNvPr>
          <p:cNvSpPr txBox="1"/>
          <p:nvPr/>
        </p:nvSpPr>
        <p:spPr>
          <a:xfrm>
            <a:off x="736600" y="21590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วางแผนทริปจาก </a:t>
            </a:r>
            <a:r>
              <a:rPr lang="en-US" sz="1200">
                <a:solidFill>
                  <a:srgbClr val="4A3B2C"/>
                </a:solidFill>
                <a:latin typeface="Leelawadee UI" panose="020B0502040204020203" pitchFamily="34" charset="-34"/>
              </a:rPr>
              <a:t>Xiaohongshu/Douyin · </a:t>
            </a:r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คาเฟ่ฮอปปิ้ง ยอมต่อคิวตามเทรนด์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C5494-B548-DB31-2DBC-756AE8336A1E}"/>
              </a:ext>
            </a:extLst>
          </p:cNvPr>
          <p:cNvSpPr txBox="1"/>
          <p:nvPr/>
        </p:nvSpPr>
        <p:spPr>
          <a:xfrm>
            <a:off x="736600" y="3048000"/>
            <a:ext cx="4876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C8654A"/>
                </a:solidFill>
                <a:latin typeface="Leelawadee UI" panose="020B0502040204020203" pitchFamily="34" charset="-34"/>
              </a:rPr>
              <a:t>ชอบ: </a:t>
            </a:r>
            <a:r>
              <a:rPr lang="en-US" sz="1200" b="1">
                <a:solidFill>
                  <a:srgbClr val="C8654A"/>
                </a:solidFill>
                <a:latin typeface="Leelawadee UI" panose="020B0502040204020203" pitchFamily="34" charset="-34"/>
              </a:rPr>
              <a:t>Shio Pan · </a:t>
            </a:r>
            <a:r>
              <a:rPr lang="th-TH" sz="1200" b="1">
                <a:solidFill>
                  <a:srgbClr val="C8654A"/>
                </a:solidFill>
                <a:latin typeface="Leelawadee UI" panose="020B0502040204020203" pitchFamily="34" charset="-34"/>
              </a:rPr>
              <a:t>ครัวซองต์มัทฉะ · โทสต์คาเฟ่</a:t>
            </a:r>
            <a:endParaRPr lang="en-US" sz="1200" b="1">
              <a:solidFill>
                <a:srgbClr val="C8654A"/>
              </a:solidFill>
              <a:latin typeface="Leelawadee UI" panose="020B0502040204020203" pitchFamily="34" charset="-34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D0D9933-2E91-4B89-1773-EEAA96F4CBB7}"/>
              </a:ext>
            </a:extLst>
          </p:cNvPr>
          <p:cNvSpPr/>
          <p:nvPr/>
        </p:nvSpPr>
        <p:spPr>
          <a:xfrm>
            <a:off x="6350000" y="1168400"/>
            <a:ext cx="5334000" cy="24384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E637A2-3860-765F-68F8-B0FF3B429F23}"/>
              </a:ext>
            </a:extLst>
          </p:cNvPr>
          <p:cNvSpPr/>
          <p:nvPr/>
        </p:nvSpPr>
        <p:spPr>
          <a:xfrm>
            <a:off x="6578600" y="1397000"/>
            <a:ext cx="584200" cy="584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B81740-F668-B917-7909-94A503D749D9}"/>
              </a:ext>
            </a:extLst>
          </p:cNvPr>
          <p:cNvSpPr txBox="1"/>
          <p:nvPr/>
        </p:nvSpPr>
        <p:spPr>
          <a:xfrm>
            <a:off x="6680200" y="14732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👨‍👩‍👧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0C82A9-17CA-D871-6FAD-E96C7BC1E64C}"/>
              </a:ext>
            </a:extLst>
          </p:cNvPr>
          <p:cNvSpPr txBox="1"/>
          <p:nvPr/>
        </p:nvSpPr>
        <p:spPr>
          <a:xfrm>
            <a:off x="7340600" y="13970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 b="1">
                <a:solidFill>
                  <a:srgbClr val="4A3B2C"/>
                </a:solidFill>
                <a:latin typeface="Leelawadee UI" panose="020B0502040204020203" pitchFamily="34" charset="-34"/>
              </a:rPr>
              <a:t>ครอบครัวหลิว</a:t>
            </a:r>
            <a:endParaRPr lang="en-US" sz="16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024CD6-D72D-4D13-1A41-9C898C91518E}"/>
              </a:ext>
            </a:extLst>
          </p:cNvPr>
          <p:cNvSpPr txBox="1"/>
          <p:nvPr/>
        </p:nvSpPr>
        <p:spPr>
          <a:xfrm>
            <a:off x="7340600" y="1752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150">
                <a:solidFill>
                  <a:srgbClr val="9C876E"/>
                </a:solidFill>
                <a:latin typeface="Leelawadee UI" panose="020B0502040204020203" pitchFamily="34" charset="-34"/>
              </a:rPr>
              <a:t>พ่อแม่ลูก · 30–45 · ทริปครอบครัว</a:t>
            </a:r>
            <a:endParaRPr lang="en-US" sz="11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10B78-EA2D-28D2-33FD-8C5C52A10018}"/>
              </a:ext>
            </a:extLst>
          </p:cNvPr>
          <p:cNvSpPr txBox="1"/>
          <p:nvPr/>
        </p:nvSpPr>
        <p:spPr>
          <a:xfrm>
            <a:off x="6578600" y="21590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เลือกร้านตำนานรีวิวแน่น รสคุ้นเคยทานง่าย · จ่าย </a:t>
            </a:r>
            <a:r>
              <a:rPr lang="en-US" sz="1200">
                <a:solidFill>
                  <a:srgbClr val="4A3B2C"/>
                </a:solidFill>
                <a:latin typeface="Leelawadee UI" panose="020B0502040204020203" pitchFamily="34" charset="-34"/>
              </a:rPr>
              <a:t>Alipay/WeChat Pay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D3C7AD-520A-016B-8E84-B0D35875F1EE}"/>
              </a:ext>
            </a:extLst>
          </p:cNvPr>
          <p:cNvSpPr txBox="1"/>
          <p:nvPr/>
        </p:nvSpPr>
        <p:spPr>
          <a:xfrm>
            <a:off x="6578600" y="3048000"/>
            <a:ext cx="4876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7FA36A"/>
                </a:solidFill>
                <a:latin typeface="Leelawadee UI" panose="020B0502040204020203" pitchFamily="34" charset="-34"/>
              </a:rPr>
              <a:t>ชอบ: มนต์นมสด · ปาท่องโก๋ · หมูหยอง</a:t>
            </a:r>
            <a:endParaRPr lang="en-US" sz="1200" b="1">
              <a:solidFill>
                <a:srgbClr val="7FA36A"/>
              </a:solidFill>
              <a:latin typeface="Leelawadee UI" panose="020B0502040204020203" pitchFamily="34" charset="-34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E7ADAA6-0EA6-91D6-BDBE-E2A87AD64495}"/>
              </a:ext>
            </a:extLst>
          </p:cNvPr>
          <p:cNvSpPr/>
          <p:nvPr/>
        </p:nvSpPr>
        <p:spPr>
          <a:xfrm>
            <a:off x="508000" y="3810000"/>
            <a:ext cx="5334000" cy="24384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E615BC-1505-59BC-BEFA-D1A9A9B2C66B}"/>
              </a:ext>
            </a:extLst>
          </p:cNvPr>
          <p:cNvSpPr/>
          <p:nvPr/>
        </p:nvSpPr>
        <p:spPr>
          <a:xfrm>
            <a:off x="736600" y="4038600"/>
            <a:ext cx="584200" cy="584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120B37-0DAC-550F-9CC1-417EF48E91F3}"/>
              </a:ext>
            </a:extLst>
          </p:cNvPr>
          <p:cNvSpPr txBox="1"/>
          <p:nvPr/>
        </p:nvSpPr>
        <p:spPr>
          <a:xfrm>
            <a:off x="838200" y="41148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🛍️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234DF-0EBD-76B4-2DFB-08A3E6C0087F}"/>
              </a:ext>
            </a:extLst>
          </p:cNvPr>
          <p:cNvSpPr txBox="1"/>
          <p:nvPr/>
        </p:nvSpPr>
        <p:spPr>
          <a:xfrm>
            <a:off x="1498600" y="4038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 b="1">
                <a:solidFill>
                  <a:srgbClr val="4A3B2C"/>
                </a:solidFill>
                <a:latin typeface="Leelawadee UI" panose="020B0502040204020203" pitchFamily="34" charset="-34"/>
              </a:rPr>
              <a:t>พี่จาง สายของฝาก</a:t>
            </a:r>
            <a:endParaRPr lang="en-US" sz="16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47FFE3-9E86-6862-B0FD-E82B5CA050A5}"/>
              </a:ext>
            </a:extLst>
          </p:cNvPr>
          <p:cNvSpPr txBox="1"/>
          <p:nvPr/>
        </p:nvSpPr>
        <p:spPr>
          <a:xfrm>
            <a:off x="1498600" y="43942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150">
                <a:solidFill>
                  <a:srgbClr val="9C876E"/>
                </a:solidFill>
                <a:latin typeface="Leelawadee UI" panose="020B0502040204020203" pitchFamily="34" charset="-34"/>
              </a:rPr>
              <a:t>วัยทำงาน · 28–40 · นักช้อป</a:t>
            </a:r>
            <a:endParaRPr lang="en-US" sz="11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7077B79-A9BE-41B6-4655-1C2195CD2C53}"/>
              </a:ext>
            </a:extLst>
          </p:cNvPr>
          <p:cNvSpPr txBox="1"/>
          <p:nvPr/>
        </p:nvSpPr>
        <p:spPr>
          <a:xfrm>
            <a:off x="736600" y="48006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ซื้อกลับประเทศ เน้นเก็บได้นาน พกง่าย ซื้อทีละหลายกล่อง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EF345C-0E54-A31A-6AE0-4A1CE44996AD}"/>
              </a:ext>
            </a:extLst>
          </p:cNvPr>
          <p:cNvSpPr txBox="1"/>
          <p:nvPr/>
        </p:nvSpPr>
        <p:spPr>
          <a:xfrm>
            <a:off x="736600" y="5689600"/>
            <a:ext cx="4876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E0A13C"/>
                </a:solidFill>
                <a:latin typeface="Leelawadee UI" panose="020B0502040204020203" pitchFamily="34" charset="-34"/>
              </a:rPr>
              <a:t>ชอบ: </a:t>
            </a:r>
            <a:r>
              <a:rPr lang="en-US" sz="1200" b="1">
                <a:solidFill>
                  <a:srgbClr val="E0A13C"/>
                </a:solidFill>
                <a:latin typeface="Leelawadee UI" panose="020B0502040204020203" pitchFamily="34" charset="-34"/>
              </a:rPr>
              <a:t>Durian Bun · </a:t>
            </a:r>
            <a:r>
              <a:rPr lang="th-TH" sz="1200" b="1">
                <a:solidFill>
                  <a:srgbClr val="E0A13C"/>
                </a:solidFill>
                <a:latin typeface="Leelawadee UI" panose="020B0502040204020203" pitchFamily="34" charset="-34"/>
              </a:rPr>
              <a:t>หมูหยอง · ทุเรียนแปรรูป</a:t>
            </a:r>
            <a:endParaRPr lang="en-US" sz="1200" b="1">
              <a:solidFill>
                <a:srgbClr val="E0A13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AF42882-9E96-A0E3-4C28-986A2C8BD2F0}"/>
              </a:ext>
            </a:extLst>
          </p:cNvPr>
          <p:cNvSpPr/>
          <p:nvPr/>
        </p:nvSpPr>
        <p:spPr>
          <a:xfrm>
            <a:off x="6350000" y="3810000"/>
            <a:ext cx="5334000" cy="24384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B2B92B5-A396-596D-E50B-73FF77A1456B}"/>
              </a:ext>
            </a:extLst>
          </p:cNvPr>
          <p:cNvSpPr/>
          <p:nvPr/>
        </p:nvSpPr>
        <p:spPr>
          <a:xfrm>
            <a:off x="6578600" y="4038600"/>
            <a:ext cx="584200" cy="584200"/>
          </a:xfrm>
          <a:prstGeom prst="ellipse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BCE939-16CA-83CE-A8CD-2DF16E003475}"/>
              </a:ext>
            </a:extLst>
          </p:cNvPr>
          <p:cNvSpPr txBox="1"/>
          <p:nvPr/>
        </p:nvSpPr>
        <p:spPr>
          <a:xfrm>
            <a:off x="6680200" y="41148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008567-1A8A-2741-FF54-FEC6F7DE00A4}"/>
              </a:ext>
            </a:extLst>
          </p:cNvPr>
          <p:cNvSpPr txBox="1"/>
          <p:nvPr/>
        </p:nvSpPr>
        <p:spPr>
          <a:xfrm>
            <a:off x="7340600" y="40386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600" b="1">
                <a:solidFill>
                  <a:srgbClr val="4A3B2C"/>
                </a:solidFill>
                <a:latin typeface="Leelawadee UI" panose="020B0502040204020203" pitchFamily="34" charset="-34"/>
              </a:rPr>
              <a:t>คุณป้าเฉิน กรุ๊ปทัวร์</a:t>
            </a:r>
            <a:endParaRPr lang="en-US" sz="16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B8AEAA-276D-B420-9721-541AB28F1340}"/>
              </a:ext>
            </a:extLst>
          </p:cNvPr>
          <p:cNvSpPr txBox="1"/>
          <p:nvPr/>
        </p:nvSpPr>
        <p:spPr>
          <a:xfrm>
            <a:off x="7340600" y="4394200"/>
            <a:ext cx="411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150">
                <a:solidFill>
                  <a:srgbClr val="9C876E"/>
                </a:solidFill>
                <a:latin typeface="Leelawadee UI" panose="020B0502040204020203" pitchFamily="34" charset="-34"/>
              </a:rPr>
              <a:t>สูงวัย · 50+ · ทัวร์คณะ</a:t>
            </a:r>
            <a:endParaRPr lang="en-US" sz="11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466A4A-BDC2-2CE7-A8FC-5455F8EEA6CB}"/>
              </a:ext>
            </a:extLst>
          </p:cNvPr>
          <p:cNvSpPr txBox="1"/>
          <p:nvPr/>
        </p:nvSpPr>
        <p:spPr>
          <a:xfrm>
            <a:off x="6578600" y="4800600"/>
            <a:ext cx="4876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4A3B2C"/>
                </a:solidFill>
                <a:latin typeface="Leelawadee UI" panose="020B0502040204020203" pitchFamily="34" charset="-34"/>
              </a:rPr>
              <a:t>ตามไกด์พาไป ชอบรสไม่หวือหวา ซื้อตามจุดแวะยอดนิยม</a:t>
            </a:r>
            <a:endParaRPr lang="en-US" sz="120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51B9F2-0CB6-D37E-E170-51E839F4F1BB}"/>
              </a:ext>
            </a:extLst>
          </p:cNvPr>
          <p:cNvSpPr txBox="1"/>
          <p:nvPr/>
        </p:nvSpPr>
        <p:spPr>
          <a:xfrm>
            <a:off x="6578600" y="5689600"/>
            <a:ext cx="4876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 b="1">
                <a:solidFill>
                  <a:srgbClr val="6F9BB3"/>
                </a:solidFill>
                <a:latin typeface="Leelawadee UI" panose="020B0502040204020203" pitchFamily="34" charset="-34"/>
              </a:rPr>
              <a:t>ชอบ: ปาท่องโก๋ · มนต์นมสด · เผือก</a:t>
            </a:r>
            <a:endParaRPr lang="en-US" sz="1200" b="1">
              <a:solidFill>
                <a:srgbClr val="6F9BB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42729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84010-FCB3-7201-5266-40A2A90E09DD}"/>
              </a:ext>
            </a:extLst>
          </p:cNvPr>
          <p:cNvSpPr txBox="1"/>
          <p:nvPr/>
        </p:nvSpPr>
        <p:spPr>
          <a:xfrm>
            <a:off x="508000" y="355600"/>
            <a:ext cx="1041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📍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ช่องทาง &amp; โลเคชั่นที่ซื้อ-กิน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81C0633-0DC3-1D0E-A709-69148359C5D9}"/>
              </a:ext>
            </a:extLst>
          </p:cNvPr>
          <p:cNvSpPr/>
          <p:nvPr/>
        </p:nvSpPr>
        <p:spPr>
          <a:xfrm>
            <a:off x="10160000" y="482600"/>
            <a:ext cx="1524000" cy="304800"/>
          </a:xfrm>
          <a:prstGeom prst="roundRect">
            <a:avLst/>
          </a:prstGeom>
          <a:solidFill>
            <a:srgbClr val="E3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C5D37-7334-50CB-81CB-12D3720C2BFB}"/>
              </a:ext>
            </a:extLst>
          </p:cNvPr>
          <p:cNvSpPr txBox="1"/>
          <p:nvPr/>
        </p:nvSpPr>
        <p:spPr>
          <a:xfrm>
            <a:off x="10160000" y="520700"/>
            <a:ext cx="152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100" b="1">
                <a:solidFill>
                  <a:srgbClr val="4F7A3A"/>
                </a:solidFill>
                <a:latin typeface="Leelawadee UI" panose="020B0502040204020203" pitchFamily="34" charset="-34"/>
              </a:rPr>
              <a:t>🟢 </a:t>
            </a:r>
            <a:r>
              <a:rPr lang="th-TH" sz="1100" b="1">
                <a:solidFill>
                  <a:srgbClr val="4F7A3A"/>
                </a:solidFill>
                <a:latin typeface="Leelawadee UI" panose="020B0502040204020203" pitchFamily="34" charset="-34"/>
              </a:rPr>
              <a:t>อ้างอิงได้</a:t>
            </a:r>
            <a:endParaRPr lang="en-US" sz="1100" b="1">
              <a:solidFill>
                <a:srgbClr val="4F7A3A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02B6CB8-3AF1-F26C-35BB-C3F3B2B758B0}"/>
              </a:ext>
            </a:extLst>
          </p:cNvPr>
          <p:cNvSpPr/>
          <p:nvPr/>
        </p:nvSpPr>
        <p:spPr>
          <a:xfrm>
            <a:off x="508000" y="12700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9D8AD-A71B-DB5D-9CEA-6F30F369955F}"/>
              </a:ext>
            </a:extLst>
          </p:cNvPr>
          <p:cNvSpPr txBox="1"/>
          <p:nvPr/>
        </p:nvSpPr>
        <p:spPr>
          <a:xfrm>
            <a:off x="622300" y="13716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🏛️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31B494-0DE1-719C-439F-D32778F2E285}"/>
              </a:ext>
            </a:extLst>
          </p:cNvPr>
          <p:cNvSpPr txBox="1"/>
          <p:nvPr/>
        </p:nvSpPr>
        <p:spPr>
          <a:xfrm>
            <a:off x="1346200" y="1295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ร้านตำนาน / แบรนด์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09BBE9-2761-19A6-F145-07D0A8FF0407}"/>
              </a:ext>
            </a:extLst>
          </p:cNvPr>
          <p:cNvSpPr txBox="1"/>
          <p:nvPr/>
        </p:nvSpPr>
        <p:spPr>
          <a:xfrm>
            <a:off x="1346200" y="1651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มนต์นมสด ราชดำเนิน/บรรทัดทอง · </a:t>
            </a:r>
            <a:r>
              <a:rPr lang="en-US" sz="1200">
                <a:solidFill>
                  <a:srgbClr val="9C876E"/>
                </a:solidFill>
                <a:latin typeface="Leelawadee UI" panose="020B0502040204020203" pitchFamily="34" charset="-34"/>
              </a:rPr>
              <a:t>After You </a:t>
            </a:r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ทั่ว กทม.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E66DE21-69E1-CCE8-BB3F-CF63C06E4CA2}"/>
              </a:ext>
            </a:extLst>
          </p:cNvPr>
          <p:cNvSpPr/>
          <p:nvPr/>
        </p:nvSpPr>
        <p:spPr>
          <a:xfrm>
            <a:off x="508000" y="24638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8F1C0-9AAB-BF98-9C04-5D9778623327}"/>
              </a:ext>
            </a:extLst>
          </p:cNvPr>
          <p:cNvSpPr txBox="1"/>
          <p:nvPr/>
        </p:nvSpPr>
        <p:spPr>
          <a:xfrm>
            <a:off x="622300" y="25654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D903F4-DF9E-D5D5-BD1A-004F7692485C}"/>
              </a:ext>
            </a:extLst>
          </p:cNvPr>
          <p:cNvSpPr txBox="1"/>
          <p:nvPr/>
        </p:nvSpPr>
        <p:spPr>
          <a:xfrm>
            <a:off x="1346200" y="2489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คาเฟ่ / เบเกอรีฮิป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112265-66EC-C5A4-C8AC-A6DA1D12CD00}"/>
              </a:ext>
            </a:extLst>
          </p:cNvPr>
          <p:cNvSpPr txBox="1"/>
          <p:nvPr/>
        </p:nvSpPr>
        <p:spPr>
          <a:xfrm>
            <a:off x="1346200" y="2844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เอกมัย · อารีย์ · ทองหล่อ · คูเมืองเชียงใหม่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0DE497-CAAE-6D97-FD89-39076ADC6E75}"/>
              </a:ext>
            </a:extLst>
          </p:cNvPr>
          <p:cNvSpPr/>
          <p:nvPr/>
        </p:nvSpPr>
        <p:spPr>
          <a:xfrm>
            <a:off x="508000" y="36576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9D248A-854F-9F80-7341-877E503990A5}"/>
              </a:ext>
            </a:extLst>
          </p:cNvPr>
          <p:cNvSpPr txBox="1"/>
          <p:nvPr/>
        </p:nvSpPr>
        <p:spPr>
          <a:xfrm>
            <a:off x="622300" y="37592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🏬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8B9253-FA96-5C0C-6149-24376079AD4A}"/>
              </a:ext>
            </a:extLst>
          </p:cNvPr>
          <p:cNvSpPr txBox="1"/>
          <p:nvPr/>
        </p:nvSpPr>
        <p:spPr>
          <a:xfrm>
            <a:off x="1346200" y="3683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ห้างสรรพสินค้า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293705-1329-F946-D3ED-6A7A21632044}"/>
              </a:ext>
            </a:extLst>
          </p:cNvPr>
          <p:cNvSpPr txBox="1"/>
          <p:nvPr/>
        </p:nvSpPr>
        <p:spPr>
          <a:xfrm>
            <a:off x="1346200" y="4038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C876E"/>
                </a:solidFill>
                <a:latin typeface="Leelawadee UI" panose="020B0502040204020203" pitchFamily="34" charset="-34"/>
              </a:rPr>
              <a:t>ICONSIAM · </a:t>
            </a:r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สยามพารากอน · เอ็มสเฟียร์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730E050-C048-33D6-1223-1531E1772EF0}"/>
              </a:ext>
            </a:extLst>
          </p:cNvPr>
          <p:cNvSpPr/>
          <p:nvPr/>
        </p:nvSpPr>
        <p:spPr>
          <a:xfrm>
            <a:off x="508000" y="48514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844F08-97C1-34E8-C9CD-CC31CE006711}"/>
              </a:ext>
            </a:extLst>
          </p:cNvPr>
          <p:cNvSpPr txBox="1"/>
          <p:nvPr/>
        </p:nvSpPr>
        <p:spPr>
          <a:xfrm>
            <a:off x="622300" y="49530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🏪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2CD540-6B96-B054-D4DF-5C341A27554D}"/>
              </a:ext>
            </a:extLst>
          </p:cNvPr>
          <p:cNvSpPr txBox="1"/>
          <p:nvPr/>
        </p:nvSpPr>
        <p:spPr>
          <a:xfrm>
            <a:off x="1346200" y="4876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4A3B2C"/>
                </a:solidFill>
                <a:latin typeface="Leelawadee UI" panose="020B0502040204020203" pitchFamily="34" charset="-34"/>
              </a:rPr>
              <a:t>7-Eleven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4B4635-0F58-E2D4-1EE7-C2F55266FA9C}"/>
              </a:ext>
            </a:extLst>
          </p:cNvPr>
          <p:cNvSpPr txBox="1"/>
          <p:nvPr/>
        </p:nvSpPr>
        <p:spPr>
          <a:xfrm>
            <a:off x="1346200" y="5232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C876E"/>
                </a:solidFill>
                <a:latin typeface="Leelawadee UI" panose="020B0502040204020203" pitchFamily="34" charset="-34"/>
              </a:rPr>
              <a:t>After You Shio Pan </a:t>
            </a:r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กล่อง · ทุกสาขารวมสนามบิน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D5733F4-800F-323F-04E0-BAE659ACAB17}"/>
              </a:ext>
            </a:extLst>
          </p:cNvPr>
          <p:cNvSpPr/>
          <p:nvPr/>
        </p:nvSpPr>
        <p:spPr>
          <a:xfrm>
            <a:off x="6248400" y="12700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88D24D-F4DB-5422-DFF9-53414CDA3525}"/>
              </a:ext>
            </a:extLst>
          </p:cNvPr>
          <p:cNvSpPr txBox="1"/>
          <p:nvPr/>
        </p:nvSpPr>
        <p:spPr>
          <a:xfrm>
            <a:off x="6362700" y="13716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🛍️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6B5F45-5850-60F8-945E-BB7F5C53B5D0}"/>
              </a:ext>
            </a:extLst>
          </p:cNvPr>
          <p:cNvSpPr txBox="1"/>
          <p:nvPr/>
        </p:nvSpPr>
        <p:spPr>
          <a:xfrm>
            <a:off x="7086600" y="12954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ตลาด / สตรีทฟู้ด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CBFA58-AD94-30D4-8CC4-EF7786C49617}"/>
              </a:ext>
            </a:extLst>
          </p:cNvPr>
          <p:cNvSpPr txBox="1"/>
          <p:nvPr/>
        </p:nvSpPr>
        <p:spPr>
          <a:xfrm>
            <a:off x="7086600" y="1651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ตลาดวังหลัง · เยาวราช (ปาท่องโก๋/ขนมปังปิ้ง)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65C07282-DF80-D6E5-85B2-3FD59D8AB251}"/>
              </a:ext>
            </a:extLst>
          </p:cNvPr>
          <p:cNvSpPr/>
          <p:nvPr/>
        </p:nvSpPr>
        <p:spPr>
          <a:xfrm>
            <a:off x="6248400" y="24638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456DDB-4E0B-287B-113F-8C0030F3A4B1}"/>
              </a:ext>
            </a:extLst>
          </p:cNvPr>
          <p:cNvSpPr txBox="1"/>
          <p:nvPr/>
        </p:nvSpPr>
        <p:spPr>
          <a:xfrm>
            <a:off x="6362700" y="25654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✈️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47D6A7-ACA6-D370-7975-4FB56C1E3FCA}"/>
              </a:ext>
            </a:extLst>
          </p:cNvPr>
          <p:cNvSpPr txBox="1"/>
          <p:nvPr/>
        </p:nvSpPr>
        <p:spPr>
          <a:xfrm>
            <a:off x="7086600" y="24892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สนามบิน / ดิวตี้ฟรี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0A8E06-4908-7F0C-5B07-5B5161B54D22}"/>
              </a:ext>
            </a:extLst>
          </p:cNvPr>
          <p:cNvSpPr txBox="1"/>
          <p:nvPr/>
        </p:nvSpPr>
        <p:spPr>
          <a:xfrm>
            <a:off x="7086600" y="28448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โซนของฝากสุวรรณภูมิ/ดอนเมือง ก่อนบินกลับ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66BFF06-59C2-8CBD-6AE9-EDEFEFEE49AF}"/>
              </a:ext>
            </a:extLst>
          </p:cNvPr>
          <p:cNvSpPr/>
          <p:nvPr/>
        </p:nvSpPr>
        <p:spPr>
          <a:xfrm>
            <a:off x="6248400" y="3657600"/>
            <a:ext cx="660400" cy="660400"/>
          </a:xfrm>
          <a:prstGeom prst="ellipse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31C024-504D-BC95-FD21-E16336C68A74}"/>
              </a:ext>
            </a:extLst>
          </p:cNvPr>
          <p:cNvSpPr txBox="1"/>
          <p:nvPr/>
        </p:nvSpPr>
        <p:spPr>
          <a:xfrm>
            <a:off x="6362700" y="3759200"/>
            <a:ext cx="457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>
                <a:solidFill>
                  <a:srgbClr val="4A3B2C"/>
                </a:solidFill>
                <a:latin typeface="Leelawadee UI" panose="020B0502040204020203" pitchFamily="34" charset="-34"/>
              </a:rPr>
              <a:t>📱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B0F401-7CC6-8883-62C7-654805336BEE}"/>
              </a:ext>
            </a:extLst>
          </p:cNvPr>
          <p:cNvSpPr txBox="1"/>
          <p:nvPr/>
        </p:nvSpPr>
        <p:spPr>
          <a:xfrm>
            <a:off x="7086600" y="36830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500" b="1">
                <a:solidFill>
                  <a:srgbClr val="4A3B2C"/>
                </a:solidFill>
                <a:latin typeface="Leelawadee UI" panose="020B0502040204020203" pitchFamily="34" charset="-34"/>
              </a:rPr>
              <a:t>เดลิเวอรี / ออนไลน์</a:t>
            </a:r>
            <a:endParaRPr lang="en-US" sz="15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6E6001-D461-C23C-99AC-589880E0525D}"/>
              </a:ext>
            </a:extLst>
          </p:cNvPr>
          <p:cNvSpPr txBox="1"/>
          <p:nvPr/>
        </p:nvSpPr>
        <p:spPr>
          <a:xfrm>
            <a:off x="7086600" y="4038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C876E"/>
                </a:solidFill>
                <a:latin typeface="Leelawadee UI" panose="020B0502040204020203" pitchFamily="34" charset="-34"/>
              </a:rPr>
              <a:t>Grab · foodpanda · LINE MAN </a:t>
            </a:r>
            <a:r>
              <a:rPr lang="th-TH" sz="1200">
                <a:solidFill>
                  <a:srgbClr val="9C876E"/>
                </a:solidFill>
                <a:latin typeface="Leelawadee UI" panose="020B0502040204020203" pitchFamily="34" charset="-34"/>
              </a:rPr>
              <a:t>ส่งถึงโรงแรม</a:t>
            </a:r>
            <a:endParaRPr lang="en-US" sz="12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133371D-D8DA-E5CE-0B9E-804B86556674}"/>
              </a:ext>
            </a:extLst>
          </p:cNvPr>
          <p:cNvSpPr/>
          <p:nvPr/>
        </p:nvSpPr>
        <p:spPr>
          <a:xfrm>
            <a:off x="6248400" y="4851400"/>
            <a:ext cx="5435600" cy="1117600"/>
          </a:xfrm>
          <a:prstGeom prst="roundRect">
            <a:avLst/>
          </a:prstGeom>
          <a:solidFill>
            <a:srgbClr val="EFF5E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786BCE-3931-53DC-AAF8-A99562CD7496}"/>
              </a:ext>
            </a:extLst>
          </p:cNvPr>
          <p:cNvSpPr txBox="1"/>
          <p:nvPr/>
        </p:nvSpPr>
        <p:spPr>
          <a:xfrm>
            <a:off x="6502400" y="50292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💡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จับคู่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persona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กับช่องทาง: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Gen Z →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คาเฟ่/ห้าง · ครอบครัว → ร้านตำนาน/ตลาด · สายของฝาก → 7-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Eleven/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สนามบิน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008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4737F3-BB30-3A68-6F6E-1F3CB09DCB5C}"/>
              </a:ext>
            </a:extLst>
          </p:cNvPr>
          <p:cNvSpPr txBox="1"/>
          <p:nvPr/>
        </p:nvSpPr>
        <p:spPr>
          <a:xfrm>
            <a:off x="508000" y="3556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💬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กระแสบนโซเชียลมีเดียจีน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FC451D4-87C3-6080-2DE3-A80144177B12}"/>
              </a:ext>
            </a:extLst>
          </p:cNvPr>
          <p:cNvSpPr/>
          <p:nvPr/>
        </p:nvSpPr>
        <p:spPr>
          <a:xfrm>
            <a:off x="508000" y="1168400"/>
            <a:ext cx="5334000" cy="1498600"/>
          </a:xfrm>
          <a:prstGeom prst="roundRect">
            <a:avLst/>
          </a:prstGeom>
          <a:solidFill>
            <a:srgbClr val="E3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2712C-E31C-9DA4-530F-0A45923B5235}"/>
              </a:ext>
            </a:extLst>
          </p:cNvPr>
          <p:cNvSpPr txBox="1"/>
          <p:nvPr/>
        </p:nvSpPr>
        <p:spPr>
          <a:xfrm>
            <a:off x="762000" y="1346200"/>
            <a:ext cx="4826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4F7A3A"/>
                </a:solidFill>
                <a:latin typeface="Leelawadee UI" panose="020B0502040204020203" pitchFamily="34" charset="-34"/>
              </a:rPr>
              <a:t>🟢 </a:t>
            </a:r>
            <a:r>
              <a:rPr lang="th-TH" sz="1400" b="1">
                <a:solidFill>
                  <a:srgbClr val="4F7A3A"/>
                </a:solidFill>
                <a:latin typeface="Leelawadee UI" panose="020B0502040204020203" pitchFamily="34" charset="-34"/>
              </a:rPr>
              <a:t>ข้อเท็จจริงอ้างอิงได้</a:t>
            </a:r>
            <a:endParaRPr lang="en-US" sz="1400" b="1">
              <a:solidFill>
                <a:srgbClr val="4F7A3A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4C70A-7179-1F5A-CF16-860F2C9549A2}"/>
              </a:ext>
            </a:extLst>
          </p:cNvPr>
          <p:cNvSpPr txBox="1"/>
          <p:nvPr/>
        </p:nvSpPr>
        <p:spPr>
          <a:xfrm>
            <a:off x="762000" y="1752600"/>
            <a:ext cx="482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Xiaohongshu (RED)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คือ "ตัววางแผนทริป" หลักของนักท่องเที่ยวจีน — ผู้ใช้สาย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outbound ~130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ล้านคน/เดือน (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Rest of World)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1A0BA-7D36-9755-0F74-7AEB4B4D5040}"/>
              </a:ext>
            </a:extLst>
          </p:cNvPr>
          <p:cNvSpPr txBox="1"/>
          <p:nvPr/>
        </p:nvSpPr>
        <p:spPr>
          <a:xfrm>
            <a:off x="508000" y="2870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400" b="1">
                <a:solidFill>
                  <a:srgbClr val="4A3B2C"/>
                </a:solidFill>
                <a:latin typeface="Leelawadee UI" panose="020B0502040204020203" pitchFamily="34" charset="-34"/>
              </a:rPr>
              <a:t>แฮชแท็กเด่น (ยอดโพสต์สะสม </a:t>
            </a:r>
            <a:r>
              <a:rPr lang="en-US" sz="1400" b="1">
                <a:solidFill>
                  <a:srgbClr val="4A3B2C"/>
                </a:solidFill>
                <a:latin typeface="Leelawadee UI" panose="020B0502040204020203" pitchFamily="34" charset="-34"/>
              </a:rPr>
              <a:t>🟡)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5FF88E-1A92-EE90-8129-665394F4044C}"/>
              </a:ext>
            </a:extLst>
          </p:cNvPr>
          <p:cNvSpPr/>
          <p:nvPr/>
        </p:nvSpPr>
        <p:spPr>
          <a:xfrm>
            <a:off x="508000" y="3302000"/>
            <a:ext cx="3810000" cy="381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329C40-BCDC-3014-C48B-E2F4F1F76FB4}"/>
              </a:ext>
            </a:extLst>
          </p:cNvPr>
          <p:cNvSpPr txBox="1"/>
          <p:nvPr/>
        </p:nvSpPr>
        <p:spPr>
          <a:xfrm>
            <a:off x="711200" y="33655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ja-JP" sz="1150">
                <a:solidFill>
                  <a:srgbClr val="4A3B2C"/>
                </a:solidFill>
                <a:latin typeface="Leelawadee UI" panose="020B0502040204020203" pitchFamily="34" charset="-34"/>
              </a:rPr>
              <a:t>#</a:t>
            </a:r>
            <a:r>
              <a:rPr lang="ja-JP" altLang="en-US" sz="1150">
                <a:solidFill>
                  <a:srgbClr val="4A3B2C"/>
                </a:solidFill>
                <a:latin typeface="Leelawadee UI" panose="020B0502040204020203" pitchFamily="34" charset="-34"/>
              </a:rPr>
              <a:t>曼谷美食 </a:t>
            </a:r>
            <a:r>
              <a:rPr lang="th-TH" sz="1150">
                <a:solidFill>
                  <a:srgbClr val="4A3B2C"/>
                </a:solidFill>
                <a:latin typeface="Leelawadee UI" panose="020B0502040204020203" pitchFamily="34" charset="-34"/>
              </a:rPr>
              <a:t>อาหารกรุงเทพ</a:t>
            </a:r>
            <a:endParaRPr lang="en-US" sz="11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23DB0-065E-1CC5-DF5B-75142C314761}"/>
              </a:ext>
            </a:extLst>
          </p:cNvPr>
          <p:cNvSpPr txBox="1"/>
          <p:nvPr/>
        </p:nvSpPr>
        <p:spPr>
          <a:xfrm>
            <a:off x="3403600" y="33655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50" b="1">
                <a:solidFill>
                  <a:srgbClr val="C8654A"/>
                </a:solidFill>
                <a:latin typeface="Leelawadee UI" panose="020B0502040204020203" pitchFamily="34" charset="-34"/>
              </a:rPr>
              <a:t>540k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F2837C-DF7E-45DC-5C90-52CAF456ECC4}"/>
              </a:ext>
            </a:extLst>
          </p:cNvPr>
          <p:cNvSpPr/>
          <p:nvPr/>
        </p:nvSpPr>
        <p:spPr>
          <a:xfrm>
            <a:off x="508000" y="3784600"/>
            <a:ext cx="3810000" cy="381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973DD4-EF8A-49B9-4F13-ACEE6B50CAA5}"/>
              </a:ext>
            </a:extLst>
          </p:cNvPr>
          <p:cNvSpPr txBox="1"/>
          <p:nvPr/>
        </p:nvSpPr>
        <p:spPr>
          <a:xfrm>
            <a:off x="711200" y="38481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ja-JP" sz="1150">
                <a:solidFill>
                  <a:srgbClr val="4A3B2C"/>
                </a:solidFill>
                <a:latin typeface="Leelawadee UI" panose="020B0502040204020203" pitchFamily="34" charset="-34"/>
              </a:rPr>
              <a:t>#</a:t>
            </a:r>
            <a:r>
              <a:rPr lang="ja-JP" altLang="en-US" sz="1150">
                <a:solidFill>
                  <a:srgbClr val="4A3B2C"/>
                </a:solidFill>
                <a:latin typeface="Leelawadee UI" panose="020B0502040204020203" pitchFamily="34" charset="-34"/>
              </a:rPr>
              <a:t>泰国面包 </a:t>
            </a:r>
            <a:r>
              <a:rPr lang="th-TH" sz="1150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ขนมปังไทย</a:t>
            </a:r>
            <a:endParaRPr lang="en-US" sz="11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B5CD61-3430-D293-9603-300642588BC0}"/>
              </a:ext>
            </a:extLst>
          </p:cNvPr>
          <p:cNvSpPr txBox="1"/>
          <p:nvPr/>
        </p:nvSpPr>
        <p:spPr>
          <a:xfrm>
            <a:off x="3403600" y="38481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50" b="1">
                <a:solidFill>
                  <a:srgbClr val="C8654A"/>
                </a:solidFill>
                <a:latin typeface="Leelawadee UI" panose="020B0502040204020203" pitchFamily="34" charset="-34"/>
              </a:rPr>
              <a:t>128k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905E9EC-B3CB-08AC-0427-9A7A06EE019D}"/>
              </a:ext>
            </a:extLst>
          </p:cNvPr>
          <p:cNvSpPr/>
          <p:nvPr/>
        </p:nvSpPr>
        <p:spPr>
          <a:xfrm>
            <a:off x="508000" y="4267200"/>
            <a:ext cx="3810000" cy="381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9B460-31F5-9ED5-346C-0CFD98DE7154}"/>
              </a:ext>
            </a:extLst>
          </p:cNvPr>
          <p:cNvSpPr txBox="1"/>
          <p:nvPr/>
        </p:nvSpPr>
        <p:spPr>
          <a:xfrm>
            <a:off x="711200" y="43307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ja-JP" sz="1150">
                <a:solidFill>
                  <a:srgbClr val="4A3B2C"/>
                </a:solidFill>
                <a:latin typeface="Leelawadee UI" panose="020B0502040204020203" pitchFamily="34" charset="-34"/>
              </a:rPr>
              <a:t>#</a:t>
            </a:r>
            <a:r>
              <a:rPr lang="ja-JP" altLang="en-US" sz="1150">
                <a:solidFill>
                  <a:srgbClr val="4A3B2C"/>
                </a:solidFill>
                <a:latin typeface="Leelawadee UI" panose="020B0502040204020203" pitchFamily="34" charset="-34"/>
              </a:rPr>
              <a:t>海盐面包 </a:t>
            </a:r>
            <a:r>
              <a:rPr lang="en-US" sz="1150">
                <a:solidFill>
                  <a:srgbClr val="4A3B2C"/>
                </a:solidFill>
                <a:latin typeface="Leelawadee UI" panose="020B0502040204020203" pitchFamily="34" charset="-34"/>
              </a:rPr>
              <a:t>Shio Pan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9B4EAD-0B95-04F3-8092-B0CB90A3E664}"/>
              </a:ext>
            </a:extLst>
          </p:cNvPr>
          <p:cNvSpPr txBox="1"/>
          <p:nvPr/>
        </p:nvSpPr>
        <p:spPr>
          <a:xfrm>
            <a:off x="3403600" y="43307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50" b="1">
                <a:solidFill>
                  <a:srgbClr val="C8654A"/>
                </a:solidFill>
                <a:latin typeface="Leelawadee UI" panose="020B0502040204020203" pitchFamily="34" charset="-34"/>
              </a:rPr>
              <a:t>96k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D07D0AE-8C5D-E86D-4A12-3E292129D00E}"/>
              </a:ext>
            </a:extLst>
          </p:cNvPr>
          <p:cNvSpPr/>
          <p:nvPr/>
        </p:nvSpPr>
        <p:spPr>
          <a:xfrm>
            <a:off x="508000" y="4749800"/>
            <a:ext cx="3810000" cy="381000"/>
          </a:xfrm>
          <a:prstGeom prst="roundRect">
            <a:avLst/>
          </a:prstGeom>
          <a:solidFill>
            <a:srgbClr val="F7EF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57A10E-740F-647A-9C39-7F9B59C7CA18}"/>
              </a:ext>
            </a:extLst>
          </p:cNvPr>
          <p:cNvSpPr txBox="1"/>
          <p:nvPr/>
        </p:nvSpPr>
        <p:spPr>
          <a:xfrm>
            <a:off x="711200" y="4813300"/>
            <a:ext cx="266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ja-JP" sz="1150">
                <a:solidFill>
                  <a:srgbClr val="4A3B2C"/>
                </a:solidFill>
                <a:latin typeface="Leelawadee UI" panose="020B0502040204020203" pitchFamily="34" charset="-34"/>
              </a:rPr>
              <a:t>#</a:t>
            </a:r>
            <a:r>
              <a:rPr lang="ja-JP" altLang="en-US" sz="1150">
                <a:solidFill>
                  <a:srgbClr val="4A3B2C"/>
                </a:solidFill>
                <a:latin typeface="Leelawadee UI" panose="020B0502040204020203" pitchFamily="34" charset="-34"/>
              </a:rPr>
              <a:t>榴莲面包 </a:t>
            </a:r>
            <a:r>
              <a:rPr lang="th-TH" sz="1150">
                <a:solidFill>
                  <a:srgbClr val="4A3B2C"/>
                </a:solidFill>
                <a:latin typeface="Leelawadee UI" panose="020B0502040204020203" pitchFamily="34" charset="-34"/>
              </a:rPr>
              <a:t>ขนมปังทุเรียน</a:t>
            </a:r>
            <a:endParaRPr lang="en-US" sz="11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F6BB1D-A1FD-F4A9-B586-FFFAB39CCCEA}"/>
              </a:ext>
            </a:extLst>
          </p:cNvPr>
          <p:cNvSpPr txBox="1"/>
          <p:nvPr/>
        </p:nvSpPr>
        <p:spPr>
          <a:xfrm>
            <a:off x="3403600" y="4813300"/>
            <a:ext cx="81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US" sz="1150" b="1">
                <a:solidFill>
                  <a:srgbClr val="C8654A"/>
                </a:solidFill>
                <a:latin typeface="Leelawadee UI" panose="020B0502040204020203" pitchFamily="34" charset="-34"/>
              </a:rPr>
              <a:t>73k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DE2046-05D5-CBBF-ACEF-E83975443156}"/>
              </a:ext>
            </a:extLst>
          </p:cNvPr>
          <p:cNvSpPr txBox="1"/>
          <p:nvPr/>
        </p:nvSpPr>
        <p:spPr>
          <a:xfrm>
            <a:off x="6350000" y="1168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400" b="1">
                <a:solidFill>
                  <a:srgbClr val="4A3B2C"/>
                </a:solidFill>
                <a:latin typeface="Leelawadee UI" panose="020B0502040204020203" pitchFamily="34" charset="-34"/>
              </a:rPr>
              <a:t>การพูดถึง "ขนมปังไทย" รายเดือน (ม.ค.→มิ.ย. </a:t>
            </a:r>
            <a:r>
              <a:rPr lang="en-US" sz="1400" b="1">
                <a:solidFill>
                  <a:srgbClr val="4A3B2C"/>
                </a:solidFill>
                <a:latin typeface="Leelawadee UI" panose="020B0502040204020203" pitchFamily="34" charset="-34"/>
              </a:rPr>
              <a:t>🟡)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97476B-0A78-ECB1-E5F8-F463FB81BB63}"/>
              </a:ext>
            </a:extLst>
          </p:cNvPr>
          <p:cNvSpPr txBox="1"/>
          <p:nvPr/>
        </p:nvSpPr>
        <p:spPr>
          <a:xfrm>
            <a:off x="6350000" y="16256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Xiaohongshu </a:t>
            </a:r>
            <a:r>
              <a:rPr lang="ja-JP" alt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小红书</a:t>
            </a:r>
            <a:endParaRPr lang="en-US" sz="11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F1BE691-67EB-7A3A-C61A-EA70B73BAF14}"/>
              </a:ext>
            </a:extLst>
          </p:cNvPr>
          <p:cNvSpPr/>
          <p:nvPr/>
        </p:nvSpPr>
        <p:spPr>
          <a:xfrm>
            <a:off x="8331200" y="1638300"/>
            <a:ext cx="2343150" cy="203200"/>
          </a:xfrm>
          <a:prstGeom prst="roundRect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B04CCC-5F2D-879C-907A-A0D261A1C988}"/>
              </a:ext>
            </a:extLst>
          </p:cNvPr>
          <p:cNvSpPr txBox="1"/>
          <p:nvPr/>
        </p:nvSpPr>
        <p:spPr>
          <a:xfrm>
            <a:off x="10775950" y="16256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41k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โพสต์ · +128%</a:t>
            </a:r>
            <a:endParaRPr lang="en-US" sz="11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0461C6-5852-84DE-64D7-0140DD33B636}"/>
              </a:ext>
            </a:extLst>
          </p:cNvPr>
          <p:cNvSpPr txBox="1"/>
          <p:nvPr/>
        </p:nvSpPr>
        <p:spPr>
          <a:xfrm>
            <a:off x="6350000" y="21844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Douyin </a:t>
            </a:r>
            <a:r>
              <a:rPr lang="ja-JP" alt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抖音</a:t>
            </a:r>
            <a:endParaRPr lang="en-US" sz="11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5A62713-0761-EA62-89C8-D6F09CD549BB}"/>
              </a:ext>
            </a:extLst>
          </p:cNvPr>
          <p:cNvSpPr/>
          <p:nvPr/>
        </p:nvSpPr>
        <p:spPr>
          <a:xfrm>
            <a:off x="8331200" y="2197100"/>
            <a:ext cx="1600200" cy="203200"/>
          </a:xfrm>
          <a:prstGeom prst="roundRect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857267-F752-DCF1-B66E-F5A12187745B}"/>
              </a:ext>
            </a:extLst>
          </p:cNvPr>
          <p:cNvSpPr txBox="1"/>
          <p:nvPr/>
        </p:nvSpPr>
        <p:spPr>
          <a:xfrm>
            <a:off x="10033000" y="21844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28k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โพสต์ · +133%</a:t>
            </a:r>
            <a:endParaRPr lang="en-US" sz="11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5756D-EAEC-B7A3-B11A-D3C08844B87E}"/>
              </a:ext>
            </a:extLst>
          </p:cNvPr>
          <p:cNvSpPr txBox="1"/>
          <p:nvPr/>
        </p:nvSpPr>
        <p:spPr>
          <a:xfrm>
            <a:off x="6350000" y="27432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Dianping </a:t>
            </a:r>
            <a:r>
              <a:rPr lang="ja-JP" alt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大众点评</a:t>
            </a:r>
            <a:endParaRPr lang="en-US" sz="11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82A48F8-D75D-266A-DA42-F0E09276DFC3}"/>
              </a:ext>
            </a:extLst>
          </p:cNvPr>
          <p:cNvSpPr/>
          <p:nvPr/>
        </p:nvSpPr>
        <p:spPr>
          <a:xfrm>
            <a:off x="8331200" y="2755900"/>
            <a:ext cx="571500" cy="203200"/>
          </a:xfrm>
          <a:prstGeom prst="roundRect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028830-4977-AC9F-42D9-8E8B303C7FC5}"/>
              </a:ext>
            </a:extLst>
          </p:cNvPr>
          <p:cNvSpPr txBox="1"/>
          <p:nvPr/>
        </p:nvSpPr>
        <p:spPr>
          <a:xfrm>
            <a:off x="9004300" y="27432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10k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โพสต์ · +67%</a:t>
            </a:r>
            <a:endParaRPr lang="en-US" sz="11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000992-18D4-E202-633D-D6805825129E}"/>
              </a:ext>
            </a:extLst>
          </p:cNvPr>
          <p:cNvSpPr txBox="1"/>
          <p:nvPr/>
        </p:nvSpPr>
        <p:spPr>
          <a:xfrm>
            <a:off x="6350000" y="33020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Weibo </a:t>
            </a:r>
            <a:r>
              <a:rPr lang="ja-JP" altLang="en-US" sz="1150" b="1">
                <a:solidFill>
                  <a:srgbClr val="4A3B2C"/>
                </a:solidFill>
                <a:latin typeface="Leelawadee UI" panose="020B0502040204020203" pitchFamily="34" charset="-34"/>
              </a:rPr>
              <a:t>微博</a:t>
            </a:r>
            <a:endParaRPr lang="en-US" sz="115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F2AEC3C-7EA3-D987-AEF5-918186CE9CDF}"/>
              </a:ext>
            </a:extLst>
          </p:cNvPr>
          <p:cNvSpPr/>
          <p:nvPr/>
        </p:nvSpPr>
        <p:spPr>
          <a:xfrm>
            <a:off x="8331200" y="3314700"/>
            <a:ext cx="400050" cy="203200"/>
          </a:xfrm>
          <a:prstGeom prst="roundRect">
            <a:avLst/>
          </a:prstGeom>
          <a:solidFill>
            <a:srgbClr val="6F9B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3E01D-30AE-467E-BC7A-996904376089}"/>
              </a:ext>
            </a:extLst>
          </p:cNvPr>
          <p:cNvSpPr txBox="1"/>
          <p:nvPr/>
        </p:nvSpPr>
        <p:spPr>
          <a:xfrm>
            <a:off x="8832850" y="3302000"/>
            <a:ext cx="1397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7k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โพสต์ · +75%</a:t>
            </a:r>
            <a:endParaRPr lang="en-US" sz="11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02B10-DCDC-AC93-B41F-EBAEAB8E0A47}"/>
              </a:ext>
            </a:extLst>
          </p:cNvPr>
          <p:cNvSpPr txBox="1"/>
          <p:nvPr/>
        </p:nvSpPr>
        <p:spPr>
          <a:xfrm>
            <a:off x="6350000" y="39624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4A3B2C"/>
                </a:solidFill>
                <a:latin typeface="Leelawadee UI" panose="020B0502040204020203" pitchFamily="34" charset="-34"/>
              </a:rPr>
              <a:t>Sentiment </a:t>
            </a:r>
            <a:r>
              <a:rPr lang="th-TH" sz="1400" b="1">
                <a:solidFill>
                  <a:srgbClr val="4A3B2C"/>
                </a:solidFill>
                <a:latin typeface="Leelawadee UI" panose="020B0502040204020203" pitchFamily="34" charset="-34"/>
              </a:rPr>
              <a:t>โดยรวม (</a:t>
            </a:r>
            <a:r>
              <a:rPr lang="en-US" sz="1400" b="1">
                <a:solidFill>
                  <a:srgbClr val="4A3B2C"/>
                </a:solidFill>
                <a:latin typeface="Leelawadee UI" panose="020B0502040204020203" pitchFamily="34" charset="-34"/>
              </a:rPr>
              <a:t>🟡)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69D0CF-D7EA-5E5A-B46C-D86B7D4B9901}"/>
              </a:ext>
            </a:extLst>
          </p:cNvPr>
          <p:cNvSpPr/>
          <p:nvPr/>
        </p:nvSpPr>
        <p:spPr>
          <a:xfrm>
            <a:off x="6350000" y="4343400"/>
            <a:ext cx="3835400" cy="330200"/>
          </a:xfrm>
          <a:prstGeom prst="roundRect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B8E037C-156A-B69F-82AC-A533406F7750}"/>
              </a:ext>
            </a:extLst>
          </p:cNvPr>
          <p:cNvSpPr/>
          <p:nvPr/>
        </p:nvSpPr>
        <p:spPr>
          <a:xfrm>
            <a:off x="10185400" y="4343400"/>
            <a:ext cx="1117600" cy="330200"/>
          </a:xfrm>
          <a:prstGeom prst="roundRect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7E33791-11D1-7629-7D28-D57FE08EC5A3}"/>
              </a:ext>
            </a:extLst>
          </p:cNvPr>
          <p:cNvSpPr/>
          <p:nvPr/>
        </p:nvSpPr>
        <p:spPr>
          <a:xfrm>
            <a:off x="11303000" y="4343400"/>
            <a:ext cx="381000" cy="330200"/>
          </a:xfrm>
          <a:prstGeom prst="roundRect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8D0831-26CB-8597-8D1F-E6EDB48457C3}"/>
              </a:ext>
            </a:extLst>
          </p:cNvPr>
          <p:cNvSpPr txBox="1"/>
          <p:nvPr/>
        </p:nvSpPr>
        <p:spPr>
          <a:xfrm>
            <a:off x="6477000" y="4394200"/>
            <a:ext cx="254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FFFFFF"/>
                </a:solidFill>
                <a:latin typeface="Leelawadee UI" panose="020B0502040204020203" pitchFamily="34" charset="-34"/>
              </a:rPr>
              <a:t>😊 </a:t>
            </a:r>
            <a:r>
              <a:rPr lang="th-TH" sz="1100" b="1">
                <a:solidFill>
                  <a:srgbClr val="FFFFFF"/>
                </a:solidFill>
                <a:latin typeface="Leelawadee UI" panose="020B0502040204020203" pitchFamily="34" charset="-34"/>
              </a:rPr>
              <a:t>บวก 72%</a:t>
            </a:r>
            <a:endParaRPr lang="en-US" sz="1100" b="1">
              <a:solidFill>
                <a:srgbClr val="FFFFFF"/>
              </a:solidFill>
              <a:latin typeface="Leelawadee UI" panose="020B0502040204020203" pitchFamily="34" charset="-34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A6871B-93C3-BCD6-5692-FB96D546DAAE}"/>
              </a:ext>
            </a:extLst>
          </p:cNvPr>
          <p:cNvSpPr txBox="1"/>
          <p:nvPr/>
        </p:nvSpPr>
        <p:spPr>
          <a:xfrm>
            <a:off x="10236200" y="4394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00" b="1">
                <a:solidFill>
                  <a:srgbClr val="FFFFFF"/>
                </a:solidFill>
                <a:latin typeface="Leelawadee UI" panose="020B0502040204020203" pitchFamily="34" charset="-34"/>
              </a:rPr>
              <a:t>กลาง 21%</a:t>
            </a:r>
            <a:endParaRPr lang="en-US" sz="1000" b="1">
              <a:solidFill>
                <a:srgbClr val="FFFFFF"/>
              </a:solidFill>
              <a:latin typeface="Leelawadee UI" panose="020B0502040204020203" pitchFamily="34" charset="-34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2D0528A-AA7A-BA74-0013-00455AF57F72}"/>
              </a:ext>
            </a:extLst>
          </p:cNvPr>
          <p:cNvSpPr txBox="1"/>
          <p:nvPr/>
        </p:nvSpPr>
        <p:spPr>
          <a:xfrm>
            <a:off x="6350000" y="4775200"/>
            <a:ext cx="533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ลบ 7% (คิวยาว/ราคา) — โอกาสปรับ </a:t>
            </a:r>
            <a:r>
              <a:rPr lang="en-US" sz="1050">
                <a:solidFill>
                  <a:srgbClr val="9C876E"/>
                </a:solidFill>
                <a:latin typeface="Leelawadee UI" panose="020B0502040204020203" pitchFamily="34" charset="-34"/>
              </a:rPr>
              <a:t>operation </a:t>
            </a:r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มากกว่าปัญหาแบรนด์</a:t>
            </a:r>
            <a:endParaRPr lang="en-US" sz="10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6ED367-E7E1-E5BF-7FF7-AA88FDF514AB}"/>
              </a:ext>
            </a:extLst>
          </p:cNvPr>
          <p:cNvSpPr txBox="1"/>
          <p:nvPr/>
        </p:nvSpPr>
        <p:spPr>
          <a:xfrm>
            <a:off x="508000" y="59690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กราฟเทรนด์/แฮชแท็ก/sentiment เป็นค่าประเมิน 🟡 · ตัวเลข engagement จริงต่อคีย์เวิร์ด ดูสไลด์ถัดไป (Apify 🟢)</a:t>
            </a:r>
            <a:endParaRPr lang="en-US" sz="105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9247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9ACCAA-D719-4E7E-C455-9276BD0168B9}"/>
              </a:ext>
            </a:extLst>
          </p:cNvPr>
          <p:cNvSpPr txBox="1"/>
          <p:nvPr/>
        </p:nvSpPr>
        <p:spPr>
          <a:xfrm>
            <a:off x="508000" y="3556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4A3B2C"/>
                </a:solidFill>
                <a:latin typeface="Leelawadee UI" panose="020B0502040204020203" pitchFamily="34" charset="-34"/>
              </a:rPr>
              <a:t>📚 </a:t>
            </a:r>
            <a:r>
              <a:rPr lang="th-TH" sz="2800" b="1">
                <a:solidFill>
                  <a:srgbClr val="4A3B2C"/>
                </a:solidFill>
                <a:latin typeface="Leelawadee UI" panose="020B0502040204020203" pitchFamily="34" charset="-34"/>
              </a:rPr>
              <a:t>แหล่งข้อมูล &amp; ความน่าเชื่อถือ</a:t>
            </a:r>
            <a:endParaRPr lang="en-US" sz="2800" b="1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1C4017-6DCC-8460-46F6-1ED0C8F62A80}"/>
              </a:ext>
            </a:extLst>
          </p:cNvPr>
          <p:cNvSpPr/>
          <p:nvPr/>
        </p:nvSpPr>
        <p:spPr>
          <a:xfrm>
            <a:off x="508000" y="1168400"/>
            <a:ext cx="5461000" cy="4826000"/>
          </a:xfrm>
          <a:prstGeom prst="roundRect">
            <a:avLst/>
          </a:prstGeom>
          <a:solidFill>
            <a:srgbClr val="E3EF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50E3D-9E94-F363-4D31-DBF4B3574657}"/>
              </a:ext>
            </a:extLst>
          </p:cNvPr>
          <p:cNvSpPr txBox="1"/>
          <p:nvPr/>
        </p:nvSpPr>
        <p:spPr>
          <a:xfrm>
            <a:off x="787400" y="1371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4F7A3A"/>
                </a:solidFill>
                <a:latin typeface="Leelawadee UI" panose="020B0502040204020203" pitchFamily="34" charset="-34"/>
              </a:rPr>
              <a:t>🟢 </a:t>
            </a:r>
            <a:r>
              <a:rPr lang="th-TH" sz="1600" b="1">
                <a:solidFill>
                  <a:srgbClr val="4F7A3A"/>
                </a:solidFill>
                <a:latin typeface="Leelawadee UI" panose="020B0502040204020203" pitchFamily="34" charset="-34"/>
              </a:rPr>
              <a:t>อ้างอิงได้ (มีแหล่งจริง)</a:t>
            </a:r>
            <a:endParaRPr lang="en-US" sz="1600" b="1">
              <a:solidFill>
                <a:srgbClr val="4F7A3A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BF6382-F7D5-78BE-3113-01EEA6DAEF47}"/>
              </a:ext>
            </a:extLst>
          </p:cNvPr>
          <p:cNvSpPr txBox="1"/>
          <p:nvPr/>
        </p:nvSpPr>
        <p:spPr>
          <a:xfrm>
            <a:off x="787400" y="18288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• สถิตินักท่องเที่ยว — กระทรวงการท่องเที่ยวฯ / ททท. / ไทยโพสต์ / กรุงเทพธุรกิจ
• รายชื่อเมนู-ร้านที่คนจีนชอบ —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KTC, Trip.com, Kapook
•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เทรนด์รสชาติ 2026 (มัทฉะ/พิสตาชิโอ/เผือก) — ไทยรัฐ
• บริบท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RED ~130M outbound users — Rest of World
•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ช่องทางขาย (7-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Eleven, ICONSIAM,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ตลาดวังหลัง) —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TrueID, Trip.com</a:t>
            </a:r>
          </a:p>
          <a:p>
            <a:r>
              <a:rPr sz="1250">
                <a:solidFill>
                  <a:srgbClr val="4A3B2C"/>
                </a:solidFill>
                <a:latin typeface="Leelawadee UI"/>
              </a:rPr>
              <a:t>• Engagement ต่อคีย์เวิร์ดบน RED/Douyin — Apify scraper (ก.ค. 2026 เป็นต้นไป)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1487E7-8250-1053-058D-42FCFE8FD6D6}"/>
              </a:ext>
            </a:extLst>
          </p:cNvPr>
          <p:cNvSpPr/>
          <p:nvPr/>
        </p:nvSpPr>
        <p:spPr>
          <a:xfrm>
            <a:off x="6223000" y="1168400"/>
            <a:ext cx="5461000" cy="4826000"/>
          </a:xfrm>
          <a:prstGeom prst="roundRect">
            <a:avLst/>
          </a:prstGeom>
          <a:solidFill>
            <a:srgbClr val="F6E6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2EA479-02A9-87EF-7CB1-FCD867B16029}"/>
              </a:ext>
            </a:extLst>
          </p:cNvPr>
          <p:cNvSpPr txBox="1"/>
          <p:nvPr/>
        </p:nvSpPr>
        <p:spPr>
          <a:xfrm>
            <a:off x="6502400" y="13716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9A6B1E"/>
                </a:solidFill>
                <a:latin typeface="Leelawadee UI" panose="020B0502040204020203" pitchFamily="34" charset="-34"/>
              </a:rPr>
              <a:t>🟡 </a:t>
            </a:r>
            <a:r>
              <a:rPr lang="th-TH" sz="1600" b="1">
                <a:solidFill>
                  <a:srgbClr val="9A6B1E"/>
                </a:solidFill>
                <a:latin typeface="Leelawadee UI" panose="020B0502040204020203" pitchFamily="34" charset="-34"/>
              </a:rPr>
              <a:t>ค่าประเมิน/สาธิต (ยังไม่ใช่ข้อมูลจริง)</a:t>
            </a:r>
            <a:endParaRPr lang="en-US" sz="1600" b="1">
              <a:solidFill>
                <a:srgbClr val="9A6B1E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A7141-7192-8E5D-ADC9-5A0E0CB64DDA}"/>
              </a:ext>
            </a:extLst>
          </p:cNvPr>
          <p:cNvSpPr txBox="1"/>
          <p:nvPr/>
        </p:nvSpPr>
        <p:spPr>
          <a:xfrm>
            <a:off x="6502400" y="1828800"/>
            <a:ext cx="490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• คะแนน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Popularity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รายเดือนของแต่ละเมนู
• ตัวเลข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mention /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แฮชแท็ก /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sentiment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รายแบรนด์
•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Forecast 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ก.ค.–ธ.ค. 2026
• รายละเอียด </a:t>
            </a:r>
            <a:r>
              <a:rPr lang="en-US" sz="1250">
                <a:solidFill>
                  <a:srgbClr val="4A3B2C"/>
                </a:solidFill>
                <a:latin typeface="Leelawadee UI" panose="020B0502040204020203" pitchFamily="34" charset="-34"/>
              </a:rPr>
              <a:t>persona (</a:t>
            </a:r>
            <a:r>
              <a:rPr lang="th-TH" sz="1250">
                <a:solidFill>
                  <a:srgbClr val="4A3B2C"/>
                </a:solidFill>
                <a:latin typeface="Leelawadee UI" panose="020B0502040204020203" pitchFamily="34" charset="-34"/>
              </a:rPr>
              <a:t>สังเคราะห์จากพฤติกรรมที่รายงานในสื่อ)</a:t>
            </a:r>
            <a:endParaRPr lang="en-US" sz="1250">
              <a:solidFill>
                <a:srgbClr val="4A3B2C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49D6E8-8B13-0512-1F97-7A87EC2AB8F4}"/>
              </a:ext>
            </a:extLst>
          </p:cNvPr>
          <p:cNvSpPr/>
          <p:nvPr/>
        </p:nvSpPr>
        <p:spPr>
          <a:xfrm>
            <a:off x="6502400" y="4470400"/>
            <a:ext cx="4902200" cy="1320800"/>
          </a:xfrm>
          <a:prstGeom prst="roundRect">
            <a:avLst/>
          </a:prstGeom>
          <a:solidFill>
            <a:srgbClr val="FFFA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96AA64-7748-73CB-98A3-51F645B459D5}"/>
              </a:ext>
            </a:extLst>
          </p:cNvPr>
          <p:cNvSpPr txBox="1"/>
          <p:nvPr/>
        </p:nvSpPr>
        <p:spPr>
          <a:xfrm>
            <a:off x="6705600" y="4622800"/>
            <a:ext cx="449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150">
                <a:solidFill>
                  <a:srgbClr val="6B5A3A"/>
                </a:solidFill>
                <a:latin typeface="Leelawadee UI" panose="020B0502040204020203" pitchFamily="34" charset="-34"/>
              </a:rPr>
              <a:t>อัปเดต ก.ค. 2026: เริ่มดึง engagement จริงต่อคีย์เวิร์ดผ่าน Apify แล้ว (อัตโนมัติรายสัปดาห์) — ส่วนตัวเลขราย 'เมนู/แบรนด์' ยังเป็นค่าประเมินจนกว่าจะขยายการเก็บข้อมูล</a:t>
            </a:r>
            <a:endParaRPr lang="en-US" sz="1150">
              <a:solidFill>
                <a:srgbClr val="6B5A3A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16AFC-CFBF-AE03-24AC-4238241A34C5}"/>
              </a:ext>
            </a:extLst>
          </p:cNvPr>
          <p:cNvSpPr txBox="1"/>
          <p:nvPr/>
        </p:nvSpPr>
        <p:spPr>
          <a:xfrm>
            <a:off x="508000" y="6172200"/>
            <a:ext cx="1117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050">
                <a:solidFill>
                  <a:srgbClr val="9C876E"/>
                </a:solidFill>
                <a:latin typeface="Leelawadee UI" panose="020B0502040204020203" pitchFamily="34" charset="-34"/>
              </a:rPr>
              <a:t>แดชบอร์ดฉบับเต็มพร้อมลิงก์อ้างอิงทุกรายการ: </a:t>
            </a:r>
            <a:r>
              <a:rPr lang="en-US" sz="1050">
                <a:solidFill>
                  <a:srgbClr val="9C876E"/>
                </a:solidFill>
                <a:latin typeface="Leelawadee UI" panose="020B0502040204020203" pitchFamily="34" charset="-34"/>
              </a:rPr>
              <a:t>mollymullikat-stack.github.io/bread-tracker</a:t>
            </a:r>
          </a:p>
        </p:txBody>
      </p:sp>
    </p:spTree>
    <p:extLst>
      <p:ext uri="{BB962C8B-B14F-4D97-AF65-F5344CB8AC3E}">
        <p14:creationId xmlns:p14="http://schemas.microsoft.com/office/powerpoint/2010/main" val="3791276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2C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0A8DFA-417F-183D-5309-4AA911C4FF13}"/>
              </a:ext>
            </a:extLst>
          </p:cNvPr>
          <p:cNvSpPr txBox="1"/>
          <p:nvPr/>
        </p:nvSpPr>
        <p:spPr>
          <a:xfrm>
            <a:off x="762000" y="508000"/>
            <a:ext cx="1016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3200" b="1">
                <a:solidFill>
                  <a:srgbClr val="FFFAF2"/>
                </a:solidFill>
                <a:latin typeface="Leelawadee UI" panose="020B0502040204020203" pitchFamily="34" charset="-34"/>
              </a:rPr>
              <a:t>ข้อเสนอแนะเชิงกลยุทธ์</a:t>
            </a:r>
            <a:endParaRPr lang="en-US" sz="3200" b="1">
              <a:solidFill>
                <a:srgbClr val="FFFAF2"/>
              </a:solidFill>
              <a:latin typeface="Leelawadee UI" panose="020B0502040204020203" pitchFamily="34" charset="-34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0FE4EC0-11E0-4C73-FFEA-13F662DDAE2D}"/>
              </a:ext>
            </a:extLst>
          </p:cNvPr>
          <p:cNvSpPr/>
          <p:nvPr/>
        </p:nvSpPr>
        <p:spPr>
          <a:xfrm>
            <a:off x="762000" y="1397000"/>
            <a:ext cx="558800" cy="558800"/>
          </a:xfrm>
          <a:prstGeom prst="ellipse">
            <a:avLst/>
          </a:prstGeom>
          <a:solidFill>
            <a:srgbClr val="C865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2F65A5-40B2-384C-886D-9753FEA89EC0}"/>
              </a:ext>
            </a:extLst>
          </p:cNvPr>
          <p:cNvSpPr txBox="1"/>
          <p:nvPr/>
        </p:nvSpPr>
        <p:spPr>
          <a:xfrm>
            <a:off x="762000" y="14859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Leelawadee UI" panose="020B0502040204020203" pitchFamily="34" charset="-34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29C64-BB7C-832F-9E44-73628702706E}"/>
              </a:ext>
            </a:extLst>
          </p:cNvPr>
          <p:cNvSpPr txBox="1"/>
          <p:nvPr/>
        </p:nvSpPr>
        <p:spPr>
          <a:xfrm>
            <a:off x="1574800" y="1371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โฟกัสครึ่งปีหลัง: </a:t>
            </a:r>
            <a:r>
              <a:rPr lang="en-US" sz="1700" b="1">
                <a:solidFill>
                  <a:srgbClr val="FFFAF2"/>
                </a:solidFill>
                <a:latin typeface="Leelawadee UI" panose="020B0502040204020203" pitchFamily="34" charset="-34"/>
              </a:rPr>
              <a:t>Shio Pan + </a:t>
            </a:r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สายทุเรียน</a:t>
            </a:r>
            <a:endParaRPr lang="en-US" sz="1700" b="1">
              <a:solidFill>
                <a:srgbClr val="FFFAF2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A06D6-1801-E8D3-CA89-39B3C35EB13D}"/>
              </a:ext>
            </a:extLst>
          </p:cNvPr>
          <p:cNvSpPr txBox="1"/>
          <p:nvPr/>
        </p:nvSpPr>
        <p:spPr>
          <a:xfrm>
            <a:off x="1574800" y="17526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โมเมนตัมแรงสุด รับ </a:t>
            </a:r>
            <a:r>
              <a:rPr lang="en-US" sz="1250">
                <a:solidFill>
                  <a:srgbClr val="C9BCA8"/>
                </a:solidFill>
                <a:latin typeface="Leelawadee UI" panose="020B0502040204020203" pitchFamily="34" charset="-34"/>
              </a:rPr>
              <a:t>Golden Week (</a:t>
            </a:r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ต.ค.) และไฮซีซั่น ธ.ค.</a:t>
            </a:r>
            <a:endParaRPr lang="en-US" sz="1250">
              <a:solidFill>
                <a:srgbClr val="C9BCA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E3574C-DD70-6E99-DE47-360E7E594582}"/>
              </a:ext>
            </a:extLst>
          </p:cNvPr>
          <p:cNvSpPr/>
          <p:nvPr/>
        </p:nvSpPr>
        <p:spPr>
          <a:xfrm>
            <a:off x="762000" y="2514600"/>
            <a:ext cx="558800" cy="558800"/>
          </a:xfrm>
          <a:prstGeom prst="ellipse">
            <a:avLst/>
          </a:prstGeom>
          <a:solidFill>
            <a:srgbClr val="E0A1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C185A-155C-D968-FB41-C7B302AC332D}"/>
              </a:ext>
            </a:extLst>
          </p:cNvPr>
          <p:cNvSpPr txBox="1"/>
          <p:nvPr/>
        </p:nvSpPr>
        <p:spPr>
          <a:xfrm>
            <a:off x="762000" y="26035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Leelawadee UI" panose="020B0502040204020203" pitchFamily="34" charset="-34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07768-3CAC-D74D-AD0D-A60E6D2FEAEF}"/>
              </a:ext>
            </a:extLst>
          </p:cNvPr>
          <p:cNvSpPr txBox="1"/>
          <p:nvPr/>
        </p:nvSpPr>
        <p:spPr>
          <a:xfrm>
            <a:off x="1574800" y="2489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จับคู่เมนูกับช่องทางตาม </a:t>
            </a:r>
            <a:r>
              <a:rPr lang="en-US" sz="1700" b="1">
                <a:solidFill>
                  <a:srgbClr val="FFFAF2"/>
                </a:solidFill>
                <a:latin typeface="Leelawadee UI" panose="020B0502040204020203" pitchFamily="34" charset="-34"/>
              </a:rPr>
              <a:t>persona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F755E-AAF9-113D-22A8-E5680C4FEED2}"/>
              </a:ext>
            </a:extLst>
          </p:cNvPr>
          <p:cNvSpPr txBox="1"/>
          <p:nvPr/>
        </p:nvSpPr>
        <p:spPr>
          <a:xfrm>
            <a:off x="1574800" y="28702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50">
                <a:solidFill>
                  <a:srgbClr val="C9BCA8"/>
                </a:solidFill>
                <a:latin typeface="Leelawadee UI" panose="020B0502040204020203" pitchFamily="34" charset="-34"/>
              </a:rPr>
              <a:t>Gen Z → </a:t>
            </a:r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คาเฟ่/ห้าง · ครอบครัว → ร้านตำนาน · ของฝาก → 7-</a:t>
            </a:r>
            <a:r>
              <a:rPr lang="en-US" sz="1250">
                <a:solidFill>
                  <a:srgbClr val="C9BCA8"/>
                </a:solidFill>
                <a:latin typeface="Leelawadee UI" panose="020B0502040204020203" pitchFamily="34" charset="-34"/>
              </a:rPr>
              <a:t>Eleven/</a:t>
            </a:r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สนามบิน</a:t>
            </a:r>
            <a:endParaRPr lang="en-US" sz="1250">
              <a:solidFill>
                <a:srgbClr val="C9BCA8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297B7A-F9A5-3A5C-0361-CFE0B96C743F}"/>
              </a:ext>
            </a:extLst>
          </p:cNvPr>
          <p:cNvSpPr/>
          <p:nvPr/>
        </p:nvSpPr>
        <p:spPr>
          <a:xfrm>
            <a:off x="762000" y="3632200"/>
            <a:ext cx="558800" cy="558800"/>
          </a:xfrm>
          <a:prstGeom prst="ellipse">
            <a:avLst/>
          </a:prstGeom>
          <a:solidFill>
            <a:srgbClr val="7FA3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9A7248-F102-A8E9-24AF-694F559D8B70}"/>
              </a:ext>
            </a:extLst>
          </p:cNvPr>
          <p:cNvSpPr txBox="1"/>
          <p:nvPr/>
        </p:nvSpPr>
        <p:spPr>
          <a:xfrm>
            <a:off x="762000" y="37211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Leelawadee UI" panose="020B0502040204020203" pitchFamily="34" charset="-34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8FED4-9E98-F8CB-FC23-D36728766FCD}"/>
              </a:ext>
            </a:extLst>
          </p:cNvPr>
          <p:cNvSpPr txBox="1"/>
          <p:nvPr/>
        </p:nvSpPr>
        <p:spPr>
          <a:xfrm>
            <a:off x="1574800" y="3606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สื่อสารบน </a:t>
            </a:r>
            <a:r>
              <a:rPr lang="en-US" sz="1700" b="1">
                <a:solidFill>
                  <a:srgbClr val="FFFAF2"/>
                </a:solidFill>
                <a:latin typeface="Leelawadee UI" panose="020B0502040204020203" pitchFamily="34" charset="-34"/>
              </a:rPr>
              <a:t>Xiaohongshu/Douyin </a:t>
            </a:r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เป็นหลัก</a:t>
            </a:r>
            <a:endParaRPr lang="en-US" sz="1700" b="1">
              <a:solidFill>
                <a:srgbClr val="FFFAF2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19ECD-0726-FE8C-D8C0-1184315E2830}"/>
              </a:ext>
            </a:extLst>
          </p:cNvPr>
          <p:cNvSpPr txBox="1"/>
          <p:nvPr/>
        </p:nvSpPr>
        <p:spPr>
          <a:xfrm>
            <a:off x="1574800" y="39878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แพลตฟอร์มที่นักท่องเที่ยวจีนใช้วางแผนทริปจริง (~130</a:t>
            </a:r>
            <a:r>
              <a:rPr lang="en-US" sz="1250">
                <a:solidFill>
                  <a:srgbClr val="C9BCA8"/>
                </a:solidFill>
                <a:latin typeface="Leelawadee UI" panose="020B0502040204020203" pitchFamily="34" charset="-34"/>
              </a:rPr>
              <a:t>M/</a:t>
            </a:r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เดือน)</a:t>
            </a:r>
            <a:endParaRPr lang="en-US" sz="1250">
              <a:solidFill>
                <a:srgbClr val="C9BCA8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E50F248-3925-D4CE-0FFB-586123F0B6A0}"/>
              </a:ext>
            </a:extLst>
          </p:cNvPr>
          <p:cNvSpPr/>
          <p:nvPr/>
        </p:nvSpPr>
        <p:spPr>
          <a:xfrm>
            <a:off x="762000" y="4749800"/>
            <a:ext cx="558800" cy="558800"/>
          </a:xfrm>
          <a:prstGeom prst="ellipse">
            <a:avLst/>
          </a:prstGeom>
          <a:solidFill>
            <a:srgbClr val="6F9BB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EFF00C-B6EA-1C0A-4DB1-58BD20C16DE6}"/>
              </a:ext>
            </a:extLst>
          </p:cNvPr>
          <p:cNvSpPr txBox="1"/>
          <p:nvPr/>
        </p:nvSpPr>
        <p:spPr>
          <a:xfrm>
            <a:off x="762000" y="4838700"/>
            <a:ext cx="558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Leelawadee UI" panose="020B0502040204020203" pitchFamily="34" charset="-34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F9D00F-F709-B859-72F6-38EF044FD9F2}"/>
              </a:ext>
            </a:extLst>
          </p:cNvPr>
          <p:cNvSpPr txBox="1"/>
          <p:nvPr/>
        </p:nvSpPr>
        <p:spPr>
          <a:xfrm>
            <a:off x="1574800" y="4724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700" b="1">
                <a:solidFill>
                  <a:srgbClr val="FFFAF2"/>
                </a:solidFill>
                <a:latin typeface="Leelawadee UI" panose="020B0502040204020203" pitchFamily="34" charset="-34"/>
              </a:rPr>
              <a:t>ต่อยอด social listening ที่เริ่มแล้ว</a:t>
            </a:r>
            <a:endParaRPr lang="en-US" sz="1700" b="1">
              <a:solidFill>
                <a:srgbClr val="FFFAF2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9430D1-19C0-0D89-97EC-F9AC78954A3F}"/>
              </a:ext>
            </a:extLst>
          </p:cNvPr>
          <p:cNvSpPr txBox="1"/>
          <p:nvPr/>
        </p:nvSpPr>
        <p:spPr>
          <a:xfrm>
            <a:off x="1574800" y="5105400"/>
            <a:ext cx="990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th-TH" sz="1250">
                <a:solidFill>
                  <a:srgbClr val="C9BCA8"/>
                </a:solidFill>
                <a:latin typeface="Leelawadee UI" panose="020B0502040204020203" pitchFamily="34" charset="-34"/>
              </a:rPr>
              <a:t>เฟสแรกรันแล้ว: Apify + GitHub Actions อัปเดตข้อมูลจริงรายสัปดาห์ → ถัดไปขยายคีย์เวิร์ดและครอบคลุม Dianping/WeChat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77C8EA-794A-F879-7FE4-A6ADE7365145}"/>
              </a:ext>
            </a:extLst>
          </p:cNvPr>
          <p:cNvSpPr txBox="1"/>
          <p:nvPr/>
        </p:nvSpPr>
        <p:spPr>
          <a:xfrm>
            <a:off x="762000" y="61722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China Bread Tracker ·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แดชบอร์ดสด </a:t>
            </a:r>
            <a:r>
              <a:rPr lang="en-US" sz="1100">
                <a:solidFill>
                  <a:srgbClr val="9C876E"/>
                </a:solidFill>
                <a:latin typeface="Leelawadee UI" panose="020B0502040204020203" pitchFamily="34" charset="-34"/>
              </a:rPr>
              <a:t>mollymullikat-stack.github.io/bread-tracker · </a:t>
            </a:r>
            <a:r>
              <a:rPr lang="th-TH" sz="1100">
                <a:solidFill>
                  <a:srgbClr val="9C876E"/>
                </a:solidFill>
                <a:latin typeface="Leelawadee UI" panose="020B0502040204020203" pitchFamily="34" charset="-34"/>
              </a:rPr>
              <a:t>ก.ค. 2026</a:t>
            </a:r>
            <a:endParaRPr lang="en-US" sz="1100">
              <a:solidFill>
                <a:srgbClr val="9C876E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12893437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94183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4A3B2C"/>
                </a:solidFill>
                <a:latin typeface="Leelawadee UI"/>
              </a:rPr>
              <a:t>🛰️ Engagement จริงจากโซเชียลจีน (Apify)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548640"/>
            <a:ext cx="1554480" cy="292608"/>
          </a:xfrm>
          <a:prstGeom prst="roundRect">
            <a:avLst/>
          </a:prstGeom>
          <a:solidFill>
            <a:srgbClr val="E3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5669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4F7A3A"/>
                </a:solidFill>
                <a:latin typeface="Leelawadee UI"/>
              </a:rPr>
              <a:t>🟢 ข้อมูลจริง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C876E"/>
                </a:solidFill>
                <a:latin typeface="Leelawadee UI"/>
              </a:rPr>
              <a:t>คีย์เวิร์ดที่ติดตาม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280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C876E"/>
                </a:solidFill>
                <a:latin typeface="Leelawadee UI"/>
              </a:rPr>
              <a:t>Xiaohongshu ไลก์รวม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2801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C876E"/>
                </a:solidFill>
                <a:latin typeface="Leelawadee UI"/>
              </a:rPr>
              <a:t>Douyin ไลก์รวม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280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9C876E"/>
                </a:solidFill>
                <a:latin typeface="Leelawadee UI"/>
              </a:rPr>
              <a:t>โพสต์เกี่ยวกับไทย (จาก 20)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645920"/>
            <a:ext cx="11155680" cy="1005840"/>
          </a:xfrm>
          <a:prstGeom prst="round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1051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4A3B2C"/>
                </a:solidFill>
                <a:latin typeface="Leelawadee UI"/>
              </a:rPr>
              <a:t>泰国面包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9C876E"/>
                </a:solidFill>
                <a:latin typeface="Leelawadee UI"/>
              </a:rPr>
              <a:t>ขนมปังไทย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105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2,294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2677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623 · เก็บ 2,301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1051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58.4k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2677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32.7k · เก็บ 13.7k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105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4F7A3A"/>
                </a:solidFill>
                <a:latin typeface="Leelawadee UI"/>
              </a:rPr>
              <a:t>14/20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6771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คอนเทนต์ไทยแท้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834640"/>
            <a:ext cx="11155680" cy="1005840"/>
          </a:xfrm>
          <a:prstGeom prst="round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99923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4A3B2C"/>
                </a:solidFill>
                <a:latin typeface="Leelawadee UI"/>
              </a:rPr>
              <a:t>海盐面包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40156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9C876E"/>
                </a:solidFill>
                <a:latin typeface="Leelawadee UI"/>
              </a:rPr>
              <a:t>Shio Pan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299923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33.2k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456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21.5k · เก็บ 43.0k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99923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858k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456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651k · เก็บ 131k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99923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0/20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45643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ส่วนใหญ่เป็นสูตรทำในจีน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023360"/>
            <a:ext cx="11155680" cy="1005840"/>
          </a:xfrm>
          <a:prstGeom prst="roundRect">
            <a:avLst/>
          </a:prstGeom>
          <a:solidFill>
            <a:srgbClr val="F7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187952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4A3B2C"/>
                </a:solidFill>
                <a:latin typeface="Leelawadee UI"/>
              </a:rPr>
              <a:t>曼谷美食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59028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0">
                <a:solidFill>
                  <a:srgbClr val="9C876E"/>
                </a:solidFill>
                <a:latin typeface="Leelawadee UI"/>
              </a:rPr>
              <a:t>อาหารกรุงเทพ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1879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13.6k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46451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5,297 · เก็บ 15.8k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1879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C8654A"/>
                </a:solidFill>
                <a:latin typeface="Leelawadee UI"/>
              </a:rPr>
              <a:t>236k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46451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สูงสุด 84.5k · เก็บ 116k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418795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4F7A3A"/>
                </a:solidFill>
                <a:latin typeface="Leelawadee UI"/>
              </a:rPr>
              <a:t>18/20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64515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คอนเทนต์ไทยแท้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285232"/>
            <a:ext cx="11155680" cy="914400"/>
          </a:xfrm>
          <a:prstGeom prst="roundRect">
            <a:avLst/>
          </a:prstGeom>
          <a:solidFill>
            <a:srgbClr val="E3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394960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4A3B2C"/>
                </a:solidFill>
                <a:latin typeface="Leelawadee UI"/>
              </a:rPr>
              <a:t>💡 曼谷美食 คือสมรภูมิหลัก (คลิปท็อป Douyin 84.5k ไลก์) · 海盐面包 บนฟีดจีนคือ "สูตรทำเอง" ไม่ใช่รีวิวร้านไทย → ควรผูกขนมปังกับคอนเทนต์เที่ยวกรุงเทพ ไม่แข่งในแท็กขนมปังตรง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0">
                <a:solidFill>
                  <a:srgbClr val="9C876E"/>
                </a:solidFill>
                <a:latin typeface="Leelawadee UI"/>
              </a:rPr>
              <a:t>วิธีเก็บ: top 10 โพสต์/คีย์เวิร์ด/แพลตฟอร์ม (รวม 60 โพสต์) · Actor: zen-studio rednote &amp; douyin search scraper · อัปเดตอัตโนมัติทุกวันจันทร์ 09:00 น. ผ่าน GitHub Actions · ล่าสุด: 2 ก.ค. 2026 18:49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1229</Words>
  <Application>Microsoft Office PowerPoint</Application>
  <PresentationFormat>Custom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Mullika Thangsermkitsakul(Buay)</dc:creator>
  <cp:lastModifiedBy>Mullika Thangsermkitsakul(Buay)</cp:lastModifiedBy>
  <cp:revision>1</cp:revision>
  <dcterms:created xsi:type="dcterms:W3CDTF">2026-07-02T05:19:54Z</dcterms:created>
  <dcterms:modified xsi:type="dcterms:W3CDTF">2026-07-02T05:19:54Z</dcterms:modified>
</cp:coreProperties>
</file>